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f30da712bd4791" /><Relationship Type="http://schemas.openxmlformats.org/officeDocument/2006/relationships/extended-properties" Target="/docProps/app.xml" Id="Ra23c5d799a6440d0" /><Relationship Type="http://schemas.openxmlformats.org/officeDocument/2006/relationships/officeDocument" Target="/ppt/presentation.xml" Id="R11c05b5dc57949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70255b0a8044bd"/>
  </p:sldMasterIdLst>
  <p:notesMasterIdLst>
    <p:notesMasterId xmlns:r="http://schemas.openxmlformats.org/officeDocument/2006/relationships" r:id="Ra208c0df8e4a4f27"/>
  </p:notesMasterIdLst>
  <p:sldIdLst>
    <p:sldId xmlns:r="http://schemas.openxmlformats.org/officeDocument/2006/relationships" id="256" r:id="R9166209c700c4f1b"/>
    <p:sldId xmlns:r="http://schemas.openxmlformats.org/officeDocument/2006/relationships" id="257" r:id="R4538868d85d84591"/>
    <p:sldId xmlns:r="http://schemas.openxmlformats.org/officeDocument/2006/relationships" id="258" r:id="R592ddaa9114c49d7"/>
    <p:sldId xmlns:r="http://schemas.openxmlformats.org/officeDocument/2006/relationships" id="259" r:id="R302f0ecbcd2f41ec"/>
    <p:sldId xmlns:r="http://schemas.openxmlformats.org/officeDocument/2006/relationships" id="260" r:id="Rcaa454024e174d6b"/>
    <p:sldId xmlns:r="http://schemas.openxmlformats.org/officeDocument/2006/relationships" id="261" r:id="R9374d0339e574167"/>
    <p:sldId xmlns:r="http://schemas.openxmlformats.org/officeDocument/2006/relationships" id="262" r:id="R459111cf45014a20"/>
    <p:sldId xmlns:r="http://schemas.openxmlformats.org/officeDocument/2006/relationships" id="263" r:id="Rb33a41ab1dd24d5f"/>
    <p:sldId xmlns:r="http://schemas.openxmlformats.org/officeDocument/2006/relationships" id="264" r:id="R303cd61ea88d4a0e"/>
    <p:sldId xmlns:r="http://schemas.openxmlformats.org/officeDocument/2006/relationships" id="265" r:id="Rb764125e4e984c94"/>
    <p:sldId xmlns:r="http://schemas.openxmlformats.org/officeDocument/2006/relationships" id="266" r:id="Rc6013ee156ed4c10"/>
    <p:sldId xmlns:r="http://schemas.openxmlformats.org/officeDocument/2006/relationships" id="267" r:id="R0db7be1a74234c0f"/>
    <p:sldId xmlns:r="http://schemas.openxmlformats.org/officeDocument/2006/relationships" id="268" r:id="R99cd467eaccf490a"/>
    <p:sldId xmlns:r="http://schemas.openxmlformats.org/officeDocument/2006/relationships" id="269" r:id="R1e239f7a608a4d61"/>
    <p:sldId xmlns:r="http://schemas.openxmlformats.org/officeDocument/2006/relationships" id="270" r:id="R3cc496c4eb0c463c"/>
    <p:sldId xmlns:r="http://schemas.openxmlformats.org/officeDocument/2006/relationships" id="271" r:id="Rddd29c7f2c8343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e3430b781c4c84" /><Relationship Type="http://schemas.openxmlformats.org/officeDocument/2006/relationships/slideMaster" Target="/ppt/slideMasters/slideMaster1.xml" Id="R3170255b0a8044bd" /><Relationship Type="http://schemas.openxmlformats.org/officeDocument/2006/relationships/notesMaster" Target="/ppt/notesMasters/notesMaster1.xml" Id="Ra208c0df8e4a4f27" /><Relationship Type="http://schemas.openxmlformats.org/officeDocument/2006/relationships/presProps" Target="/ppt/presProps.xml" Id="Rf038f69e54374b8a" /><Relationship Type="http://schemas.openxmlformats.org/officeDocument/2006/relationships/tableStyles" Target="/ppt/tableStyles.xml" Id="R58a7d42a04e042f5" /><Relationship Type="http://schemas.openxmlformats.org/officeDocument/2006/relationships/slide" Target="/ppt/slides/slide1.xml" Id="R9166209c700c4f1b" /><Relationship Type="http://schemas.openxmlformats.org/officeDocument/2006/relationships/slide" Target="/ppt/slides/slide2.xml" Id="R4538868d85d84591" /><Relationship Type="http://schemas.openxmlformats.org/officeDocument/2006/relationships/slide" Target="/ppt/slides/slide3.xml" Id="R592ddaa9114c49d7" /><Relationship Type="http://schemas.openxmlformats.org/officeDocument/2006/relationships/slide" Target="/ppt/slides/slide4.xml" Id="R302f0ecbcd2f41ec" /><Relationship Type="http://schemas.openxmlformats.org/officeDocument/2006/relationships/slide" Target="/ppt/slides/slide5.xml" Id="Rcaa454024e174d6b" /><Relationship Type="http://schemas.openxmlformats.org/officeDocument/2006/relationships/slide" Target="/ppt/slides/slide6.xml" Id="R9374d0339e574167" /><Relationship Type="http://schemas.openxmlformats.org/officeDocument/2006/relationships/slide" Target="/ppt/slides/slide7.xml" Id="R459111cf45014a20" /><Relationship Type="http://schemas.openxmlformats.org/officeDocument/2006/relationships/slide" Target="/ppt/slides/slide8.xml" Id="Rb33a41ab1dd24d5f" /><Relationship Type="http://schemas.openxmlformats.org/officeDocument/2006/relationships/slide" Target="/ppt/slides/slide9.xml" Id="R303cd61ea88d4a0e" /><Relationship Type="http://schemas.openxmlformats.org/officeDocument/2006/relationships/slide" Target="/ppt/slides/slide10.xml" Id="Rb764125e4e984c94" /><Relationship Type="http://schemas.openxmlformats.org/officeDocument/2006/relationships/slide" Target="/ppt/slides/slide11.xml" Id="Rc6013ee156ed4c10" /><Relationship Type="http://schemas.openxmlformats.org/officeDocument/2006/relationships/slide" Target="/ppt/slides/slide12.xml" Id="R0db7be1a74234c0f" /><Relationship Type="http://schemas.openxmlformats.org/officeDocument/2006/relationships/slide" Target="/ppt/slides/slide13.xml" Id="R99cd467eaccf490a" /><Relationship Type="http://schemas.openxmlformats.org/officeDocument/2006/relationships/slide" Target="/ppt/slides/slide14.xml" Id="R1e239f7a608a4d61" /><Relationship Type="http://schemas.openxmlformats.org/officeDocument/2006/relationships/slide" Target="/ppt/slides/slide15.xml" Id="R3cc496c4eb0c463c" /><Relationship Type="http://schemas.openxmlformats.org/officeDocument/2006/relationships/slide" Target="/ppt/slides/slide16.xml" Id="Rddd29c7f2c8343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4099664fc245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7734a8d3ec4f30" /><Relationship Type="http://schemas.openxmlformats.org/officeDocument/2006/relationships/notesMaster" Target="/ppt/notesMasters/notesMaster1.xml" Id="R7b26b47f870040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007a54d63a4c19" /><Relationship Type="http://schemas.openxmlformats.org/officeDocument/2006/relationships/notesMaster" Target="/ppt/notesMasters/notesMaster1.xml" Id="R62cbfb7cf35a49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e74fdb0d684193" /><Relationship Type="http://schemas.openxmlformats.org/officeDocument/2006/relationships/notesMaster" Target="/ppt/notesMasters/notesMaster1.xml" Id="R0300c1d2334542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582abda4b940c4" /><Relationship Type="http://schemas.openxmlformats.org/officeDocument/2006/relationships/notesMaster" Target="/ppt/notesMasters/notesMaster1.xml" Id="Rdf8c2efa67ad43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391dd05c4042b2" /><Relationship Type="http://schemas.openxmlformats.org/officeDocument/2006/relationships/notesMaster" Target="/ppt/notesMasters/notesMaster1.xml" Id="R391d2eb216c24a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43090bb5b8a402b" /><Relationship Type="http://schemas.openxmlformats.org/officeDocument/2006/relationships/notesMaster" Target="/ppt/notesMasters/notesMaster1.xml" Id="R25f0943a3b2e49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54faee411444d8" /><Relationship Type="http://schemas.openxmlformats.org/officeDocument/2006/relationships/notesMaster" Target="/ppt/notesMasters/notesMaster1.xml" Id="Rde22fd9e136a41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eece85f2ad1441e" /><Relationship Type="http://schemas.openxmlformats.org/officeDocument/2006/relationships/notesMaster" Target="/ppt/notesMasters/notesMaster1.xml" Id="Ra92e85ae9b3f409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9ac4cd3e5e453b" /><Relationship Type="http://schemas.openxmlformats.org/officeDocument/2006/relationships/notesMaster" Target="/ppt/notesMasters/notesMaster1.xml" Id="Ra3e3d4d11caf4e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af95e386c044f8" /><Relationship Type="http://schemas.openxmlformats.org/officeDocument/2006/relationships/notesMaster" Target="/ppt/notesMasters/notesMaster1.xml" Id="Ra0bef6aefb9f415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098ce15f0144764" /><Relationship Type="http://schemas.openxmlformats.org/officeDocument/2006/relationships/notesMaster" Target="/ppt/notesMasters/notesMaster1.xml" Id="R57f56ec0c6894a2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4ca80e54a3144bf" /><Relationship Type="http://schemas.openxmlformats.org/officeDocument/2006/relationships/notesMaster" Target="/ppt/notesMasters/notesMaster1.xml" Id="R5165ab5ab09741b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6dde6a19ff4413" /><Relationship Type="http://schemas.openxmlformats.org/officeDocument/2006/relationships/notesMaster" Target="/ppt/notesMasters/notesMaster1.xml" Id="R3d908711b06549e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f8288ff7b074bb0" /><Relationship Type="http://schemas.openxmlformats.org/officeDocument/2006/relationships/notesMaster" Target="/ppt/notesMasters/notesMaster1.xml" Id="Rfe9d8f5a08514ec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ce41fbdc190473d" /><Relationship Type="http://schemas.openxmlformats.org/officeDocument/2006/relationships/notesMaster" Target="/ppt/notesMasters/notesMaster1.xml" Id="R077c04957ffd4c2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0028ffb491405c" /><Relationship Type="http://schemas.openxmlformats.org/officeDocument/2006/relationships/notesMaster" Target="/ppt/notesMasters/notesMaster1.xml" Id="Rd8b25f95eab349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依据：specification/official-track8.pdf；匿名自定义版式，组委会模板未提供。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依据：官方赛题基础/中级/决赛任务；docs/ACCEPTANCE.md。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依据：docs/CURRENT_ARCHITECTURE.md；backend/omni_agent.py、dependency_agent.py。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依据：backend/nl2sql/；docs/CHINOOK_RULES_REPORT.json、SCHEMA_SCALE_REPORT.json。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依据：samples/manifest.json、backend/knowledge_store.py、ocr.py。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依据：backend/dense_retrieval.py、cross_source.py；docs/RAG_SCALE_REPORT.json。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依据：docs/HYBRID_ACCEPTANCE_REPORT.json；formula_binding.py、unit_algebra.py。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依据：HYBRID_ACCEPTANCE_REPORT.json；dependency_agent.py。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依据：官方九项中级任务；docs/ACCEPTANCE.md M01-M05。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依据：docs/ACCEPTANCE.md M06-M09；ROBUSTNESS_REPORT.json。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依据：HYBRID_ACCEPTANCE_REPORT.json、CHINOOK_RULES_REPORT.json、MODEL_API_PROBE.json。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依据：docs/ROBUSTNESS_REPORT.json；十种合成扰动，不是OHR-Bench。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依据：docs/RAG_SCALE_REPORT.json；文字PDF在线混合摘录，不含OCR与外部生成。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依据：FAULT_RECOVERY_FIRST_RUN.json、FAULT_RECOVERY_REPORT.json、LOCAL_REGRESSION_REPORT.json。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依据：公式/单位/日期守卫与公开资产验包；不申报已证实的SOTA领先。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依据：docs/ACCEPTANCE.md；官方决赛交付要求。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7c6c13810a42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7914d3e00047b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8e31fec5c543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cff9bf576b43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c56406b302444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b610f0a0aa47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88DCF8F-5D28-4867-8E9A-735D2434CD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2FBF063-6E4B-4CE9-820B-C9805FA212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5D5A79-BF29-4B7C-81C8-6FCFE1CB04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F6888C3-758E-4321-BD35-2EDC9AA3D29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B578389-CEE3-48E4-9C28-3EE04FF0C9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B6D7EDD-25CE-4E7C-8ED7-A99B5A2535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A5B79E8-E69B-43E1-BABD-F1334C3840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DFCF8B-6405-4934-AB02-3FA42828C9C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6C028E2-5B63-4556-B81B-ED577769E6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ADA8DD5-D97D-4AB2-A2A4-3DF538091F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ea3a811cac4708" /><Relationship Type="http://schemas.openxmlformats.org/officeDocument/2006/relationships/slideLayout" Target="/ppt/slideLayouts/slideLayout1.xml" Id="R86bf366aaf1c4046" /><Relationship Type="http://schemas.openxmlformats.org/officeDocument/2006/relationships/slideLayout" Target="/ppt/slideLayouts/slideLayout2.xml" Id="Rcd4efc20fdda4359" /><Relationship Type="http://schemas.openxmlformats.org/officeDocument/2006/relationships/slideLayout" Target="/ppt/slideLayouts/slideLayout3.xml" Id="Ra90fba74eda84970" /><Relationship Type="http://schemas.openxmlformats.org/officeDocument/2006/relationships/slideLayout" Target="/ppt/slideLayouts/slideLayout4.xml" Id="Re815614ce9cd45c3" /><Relationship Type="http://schemas.openxmlformats.org/officeDocument/2006/relationships/slideLayout" Target="/ppt/slideLayouts/slideLayout5.xml" Id="R87ffdfd9adec4ebe" /><Relationship Type="http://schemas.openxmlformats.org/officeDocument/2006/relationships/slideLayout" Target="/ppt/slideLayouts/slideLayout6.xml" Id="R47e0ca5964df44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bf366aaf1c4046"/>
    <p:sldLayoutId xmlns:r="http://schemas.openxmlformats.org/officeDocument/2006/relationships" id="2147483650" r:id="Rcd4efc20fdda4359"/>
    <p:sldLayoutId xmlns:r="http://schemas.openxmlformats.org/officeDocument/2006/relationships" id="2147483651" r:id="Ra90fba74eda84970"/>
    <p:sldLayoutId xmlns:r="http://schemas.openxmlformats.org/officeDocument/2006/relationships" id="2147483652" r:id="Re815614ce9cd45c3"/>
    <p:sldLayoutId xmlns:r="http://schemas.openxmlformats.org/officeDocument/2006/relationships" id="2147483653" r:id="R87ffdfd9adec4ebe"/>
    <p:sldLayoutId xmlns:r="http://schemas.openxmlformats.org/officeDocument/2006/relationships" id="2147483654" r:id="R47e0ca5964df44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3ae63749df49cc" /><Relationship Type="http://schemas.openxmlformats.org/officeDocument/2006/relationships/notesSlide" Target="/ppt/notesSlides/notesSlide1.xml" Id="Rbde3182adfac4b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42824439f0428b" /><Relationship Type="http://schemas.openxmlformats.org/officeDocument/2006/relationships/notesSlide" Target="/ppt/notesSlides/notesSlide2.xml" Id="Ra1752e511fc74e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4d5bdddc544943" /><Relationship Type="http://schemas.openxmlformats.org/officeDocument/2006/relationships/notesSlide" Target="/ppt/notesSlides/notesSlide3.xml" Id="Rbccccb03a6e042d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b979a4c9814c0e" /><Relationship Type="http://schemas.openxmlformats.org/officeDocument/2006/relationships/notesSlide" Target="/ppt/notesSlides/notesSlide4.xml" Id="Re5d4cb9dbad844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7ef4240ba2482a" /><Relationship Type="http://schemas.openxmlformats.org/officeDocument/2006/relationships/notesSlide" Target="/ppt/notesSlides/notesSlide5.xml" Id="Rdcf34e2c31b84e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74f2e460914cb7" /><Relationship Type="http://schemas.openxmlformats.org/officeDocument/2006/relationships/notesSlide" Target="/ppt/notesSlides/notesSlide6.xml" Id="Re60de97c36b9427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a32b14536c4b9f" /><Relationship Type="http://schemas.openxmlformats.org/officeDocument/2006/relationships/notesSlide" Target="/ppt/notesSlides/notesSlide7.xml" Id="R6e3d6663a32043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3c0807fa584cd3" /><Relationship Type="http://schemas.openxmlformats.org/officeDocument/2006/relationships/notesSlide" Target="/ppt/notesSlides/notesSlide8.xml" Id="R42219eee020c445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3e7f6800eb4944" /><Relationship Type="http://schemas.openxmlformats.org/officeDocument/2006/relationships/notesSlide" Target="/ppt/notesSlides/notesSlide9.xml" Id="Re4e9c7e158e34e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f1300c147b46b9" /><Relationship Type="http://schemas.openxmlformats.org/officeDocument/2006/relationships/notesSlide" Target="/ppt/notesSlides/notesSlide10.xml" Id="Rf7638e12986f4a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dd8a0701844ebf" /><Relationship Type="http://schemas.openxmlformats.org/officeDocument/2006/relationships/notesSlide" Target="/ppt/notesSlides/notesSlide11.xml" Id="Rc00a197aae4649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467e4560474a82" /><Relationship Type="http://schemas.openxmlformats.org/officeDocument/2006/relationships/chart" Target="/ppt/slides/charts/chart1.xml" Id="R8967a727f4044fd6" /><Relationship Type="http://schemas.openxmlformats.org/officeDocument/2006/relationships/notesSlide" Target="/ppt/notesSlides/notesSlide12.xml" Id="Ra8e17730d11240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3f86c8ccbf4450" /><Relationship Type="http://schemas.openxmlformats.org/officeDocument/2006/relationships/notesSlide" Target="/ppt/notesSlides/notesSlide13.xml" Id="Rb96d1842e26e432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2e9f93fbe34a98" /><Relationship Type="http://schemas.openxmlformats.org/officeDocument/2006/relationships/notesSlide" Target="/ppt/notesSlides/notesSlide14.xml" Id="R20c7492d308f4af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82dfa33dc04c17" /><Relationship Type="http://schemas.openxmlformats.org/officeDocument/2006/relationships/notesSlide" Target="/ppt/notesSlides/notesSlide15.xml" Id="R37734500c6024e4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011eb47a744186" /><Relationship Type="http://schemas.openxmlformats.org/officeDocument/2006/relationships/notesSlide" Target="/ppt/notesSlides/notesSlide16.xml" Id="R2928363ae5bf4f0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关键事实正确样本数</c:v>
          </c:tx>
          <c:spPr>
            <a:solidFill xmlns:a="http://schemas.openxmlformats.org/drawingml/2006/main">
              <a:srgbClr val="176B87"/>
            </a:solidFill>
          </c:spPr>
          <c:cat>
            <c:strRef>
              <c:f>'Chart Data'!$A$2:$A$3</c:f>
              <c:strCache>
                <c:ptCount val="2"/>
                <c:pt idx="0">
                  <c:v>原图识别</c:v>
                </c:pt>
                <c:pt idx="1">
                  <c:v>有界恢复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8</c:v>
                </c:pt>
                <c:pt idx="1">
                  <c:v>10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12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2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2B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24B90E-A87A-473D-9299-D77868E3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09700"/>
            <a:ext cx="10744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OmniAgent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63A16F-8878-453F-8B8D-191DA8BB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107442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多模态数据驱动的</a:t>
            </a:r>
          </a:p>
          <a:p xmlns:a="http://schemas.openxmlformats.org/drawingml/2006/main">
            <a:pPr>
              <a:def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可解释精准问数问答智能体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9BDDA-7DB2-416E-99D2-5EEA84F9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ADA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CADAE4"/>
                </a:solidFill>
                <a:latin typeface="Microsoft YaHei"/>
                <a:ea typeface="Microsoft YaHei"/>
                <a:cs typeface="Microsoft YaHei"/>
              </a:rPr>
              <a:t>ICT 赛题八 · 2026-10-01</a:t>
            </a:r>
          </a:p>
        </p:txBody>
      </p:sp>
    </p:spTree>
    <p:extLst>
      <p:ext uri="{BB962C8B-B14F-4D97-AF65-F5344CB8AC3E}">
        <p14:creationId xmlns:p14="http://schemas.microsoft.com/office/powerpoint/2010/main" val="15574095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75ED9-F01C-4567-9FC6-AF8900E4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赛题目标与当前实现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1C093-4097-4B22-97F3-786FCC8B2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数据库问数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C007E-F05B-48F8-9F1A-9720EE59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Schema链接、要素识别、澄清、JOIN与只读执行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03C761-3C74-46CB-9515-682655F3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多模态问答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E1019C-3349-4E62-BC42-3E054914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六种格式、真实OCR、本地BGE与BM25融合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21CC1-C7A0-4ECF-A7F8-E85B4B12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跨源计算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6A9B9-3CBD-4764-8709-ABA33B8D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公式与数据绑定，核验单位、年份与政策版本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98409-1D42-40D2-BC7E-F73DD8804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可解释交互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2C068-2BD7-4BCA-B9E2-CA2D7882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实际SQL、引用位置、依赖链与五轮会话</a:t>
            </a:r>
          </a:p>
        </p:txBody>
      </p:sp>
    </p:spTree>
    <p:extLst>
      <p:ext uri="{BB962C8B-B14F-4D97-AF65-F5344CB8AC3E}">
        <p14:creationId xmlns:p14="http://schemas.microsoft.com/office/powerpoint/2010/main" val="4997843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6096000" y="4419600"/>
            <a:ext cx="384810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4" name=""/>
          <p:cNvCxnSpPr>
            <a:stCxn xmlns:a="http://schemas.openxmlformats.org/drawingml/2006/main" id="2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6096000" y="2190750"/>
            <a:ext cx="3848100" cy="714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5" name=""/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6096000" y="441960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6" name=""/>
          <p:cNvCxnSpPr>
            <a:stCxn xmlns:a="http://schemas.openxmlformats.org/drawingml/2006/main" id="2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>
            <a:off x="6096000" y="219075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7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2247900" y="4419600"/>
            <a:ext cx="3848100" cy="7620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2" idx="2"/>
            <a:endCxn xmlns:a="http://schemas.openxmlformats.org/drawingml/2006/main" id="3" idx="0"/>
          </p:cNvCxnSpPr>
          <p:nvPr/>
        </p:nvCxnSpPr>
        <p:spPr>
          <a:xfrm xmlns:a="http://schemas.openxmlformats.org/drawingml/2006/main" flipH="1">
            <a:off x="2247900" y="2190750"/>
            <a:ext cx="3848100" cy="7143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76B87"/>
            </a:solidFill>
            <a:tailEnd type="arrow" w="med" len="med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1184D-7CE7-49DD-A2A2-8ACC62DA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系统架构与共享证据契约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720EC-C3B1-4A3A-9E46-4D542EE27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44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用户问题 → 结构化会话 → 路由与工具计划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07910D-A96F-4930-BC9B-8171C730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结构化数据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Schema / 值索引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安全SQL / 只读执行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4CFA2-5306-436E-B4E2-EF43EFF3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非结构化数据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解析 / OCR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BGE + BM25 + RRF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D4EFF-1E49-4DD7-BC4B-8BAE9C7AA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05125"/>
            <a:ext cx="30480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融合执行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有界DAG / 前步引用</a:t>
            </a:r>
          </a:p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 / 单位 / 年份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7AB5E-EE97-41B9-97DF-5A263B94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10744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6F8"/>
          </a:solidFill>
          <a:ln xmlns:a="http://schemas.openxmlformats.org/drawingml/2006/main" w="14288">
            <a:solidFill>
              <a:srgbClr val="176B87"/>
            </a:solidFill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来源核验 → 最终答案 / 主动澄清 / 明确失败</a:t>
            </a:r>
          </a:p>
        </p:txBody>
      </p:sp>
    </p:spTree>
    <p:extLst>
      <p:ext uri="{BB962C8B-B14F-4D97-AF65-F5344CB8AC3E}">
        <p14:creationId xmlns:p14="http://schemas.microsoft.com/office/powerpoint/2010/main" val="14426266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F260E0-4297-4753-9D22-BDD3CC72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NL2SQL：结构化计划与安全执行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3A295-1C29-42D7-ACE9-0A2E9C60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字段与值共同链接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0E20B-1925-45AF-A3C8-95E50E741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显式字段优先；Unicode归一化与值词边界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BAAC2B-82E1-4D6E-94E2-9F7E15AA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JOIN粒度核验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9132C-2A12-41DA-8058-63AF488C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复合键、关系路径与防扇出；歧义进入澄清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08C976-7F92-4EB7-8BED-1709153D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计划经过统一安全门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6D4BF-BD7B-4BE8-8D8F-2706F188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模型不能执行裸SQL；参数化与只读AST验证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9BA61-8594-4EC1-831B-05F5BB4F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开发实测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0C561-8C43-4147-A049-E2BB48E36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Chinook 12/12；11/40/80表干扰9/9</a:t>
            </a:r>
          </a:p>
        </p:txBody>
      </p:sp>
    </p:spTree>
    <p:extLst>
      <p:ext uri="{BB962C8B-B14F-4D97-AF65-F5344CB8AC3E}">
        <p14:creationId xmlns:p14="http://schemas.microsoft.com/office/powerpoint/2010/main" val="17168139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7CD31D-BD36-4435-B0FA-B05326C1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多模态入库与可回看的来源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D3690-D4A5-4381-A07E-B17131CA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15份实际样本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EB3D9-4532-423D-9632-A80490D6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六种格式，自建合成CC0；不使用客户私有资料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E2EA90-5D86-459D-9E2F-543A1D29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结构定位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61B28-858B-46B7-A8F3-BDA514C5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页、行、单元格、OCR区域；PDF目录首次2/8修复后8/8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0AF413-B3B3-47B6-8D6B-E11FA619F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真实OCR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E7DB0-962C-4BEE-A35E-EAA647C1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RapidOCR ONNX CPU；三次以内恢复尝试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B7801-0377-423C-B9DD-43F6231E3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原文件核验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4EF69-84B0-42A1-B801-F3004679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检索/公式命中后重查SHA；篡改或缺失停止</a:t>
            </a:r>
          </a:p>
        </p:txBody>
      </p:sp>
    </p:spTree>
    <p:extLst>
      <p:ext uri="{BB962C8B-B14F-4D97-AF65-F5344CB8AC3E}">
        <p14:creationId xmlns:p14="http://schemas.microsoft.com/office/powerpoint/2010/main" val="2954404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FD112-F82E-4AB4-B55C-6F6B567C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混合检索与编号约束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C1C84-409B-4E4C-8843-3546A02D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BGE + BM25 + RRF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5B11B5-C7E4-444F-85E0-C490AB4E5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真实本地向量与词匹配融合，保留各路排名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DCC32-218E-429E-B1DC-DD097E03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编号限定证据范围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3B572-5970-4C1C-B1BA-D84ECD8E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CASE0005不能命中CASE00050；缺失编号拒答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FD2A5-C01E-4E74-AD21-DBDEFA5F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引用与数字核验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B9CAC-943D-44A3-BB8E-1F714BB96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原文存在不等于完整语义蕴含，保持明确边界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A5F1E-C822-4D5B-A9ED-526C921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阈值仍需独立校准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8C4E4-934F-4CC9-9B90-1593FD21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开发门槛不作为公开泛化准确率证明</a:t>
            </a:r>
          </a:p>
        </p:txBody>
      </p:sp>
    </p:spTree>
    <p:extLst>
      <p:ext uri="{BB962C8B-B14F-4D97-AF65-F5344CB8AC3E}">
        <p14:creationId xmlns:p14="http://schemas.microsoft.com/office/powerpoint/2010/main" val="29286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F2812-B5A3-4062-942E-487D0DE6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跨源预测的可计算证据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107442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5000625"/>
                <a:gridCol w="3362325"/>
              </a:tblGrid>
              <a:tr h="7239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取值或公式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核验条件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预测 = 基准 × (1 + 增长率)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明确基准年与目标年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2025华东销售额 29584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全年范围与金额单位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2026适用增长率 12%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参数适用年份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2026预测 33134.08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来源、尺度与AST均有效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BCCFD3-E3EA-4330-BD18-5DC95A5D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91175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合成开发例子；年份或币种冲突时停止输出最终结论</a:t>
            </a:r>
          </a:p>
        </p:txBody>
      </p:sp>
    </p:spTree>
    <p:extLst>
      <p:ext uri="{BB962C8B-B14F-4D97-AF65-F5344CB8AC3E}">
        <p14:creationId xmlns:p14="http://schemas.microsoft.com/office/powerpoint/2010/main" val="762153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6B304-64FC-4E21-9B44-3046ED30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五类跨源流程与实际依赖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495425"/>
          <a:ext xmlns:a="http://schemas.openxmlformats.org/drawingml/2006/main" cx="107442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600700"/>
                <a:gridCol w="2857500"/>
              </a:tblGrid>
              <a:tr h="682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数据依赖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校验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客单价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文档公式 / SQL销售额与订单数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 / 零分母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预测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PDF公式 / SQL基准 / Excel参数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年份 / 单位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地区问数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Excel地区作为SQL过滤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单元格 / 实体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冠军经验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SQL排名的实体用于文档检索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实体 / 引用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阈值比较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检索 / 来源事实 / Excel / le比较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原文 / 单位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183B4-1562-419D-8205-FC29EA51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五流程工具计划已验收；未知自然语言模型规划仍待实测</a:t>
            </a:r>
          </a:p>
        </p:txBody>
      </p:sp>
    </p:spTree>
    <p:extLst>
      <p:ext uri="{BB962C8B-B14F-4D97-AF65-F5344CB8AC3E}">
        <p14:creationId xmlns:p14="http://schemas.microsoft.com/office/powerpoint/2010/main" val="20144929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D04E45-F031-4874-8BD1-0482C9D2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中级任务：问数侧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05A94-13B2-4127-9E9B-0FC8CD1A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要素识别与改写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AA240-0DB2-4041-AB94-18FB9F17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NFKC、别名、值词边界；文本扰动5/5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E12BB-0EA8-49CA-8A48-3FCDB407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跨域与低示例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48A23B-5BFE-4D54-A8F1-4718FAA6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Chinook 12/12；差旅新Schema首次6/8修复后8/8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FDFAAC-FCA4-46DD-8D34-F61CD825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主动澄清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4A18E9-1CDD-48FC-8D9D-D3C69C86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指标/角色、时间与趋势粒度；刷新后继续追问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674AE-D771-48F9-BF8D-1CCFFC39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复杂结构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50D33-11C6-45FC-AC8D-BADC21D3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数十表链接、JOIN、聚合、嵌套与粒度核验</a:t>
            </a:r>
          </a:p>
        </p:txBody>
      </p:sp>
    </p:spTree>
    <p:extLst>
      <p:ext uri="{BB962C8B-B14F-4D97-AF65-F5344CB8AC3E}">
        <p14:creationId xmlns:p14="http://schemas.microsoft.com/office/powerpoint/2010/main" val="2300333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71FB2-0A9F-4E49-A43E-DD03C034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中级任务：文档与计算侧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28BE2-F5B2-474F-A2D4-B144D6E9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文档公式绑定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90893-F542-402B-900D-DBDF56D5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AST计算，来源参数、单位尺度与年份守卫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FE79A-05BF-4257-83CB-1F5864141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非标准目录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0EEFD3-C54B-4CD9-BC12-4D341127F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多种标题层级；行号与层级跳跃告警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13606C-09DD-4EC1-B9B7-79026834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复杂度路由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4A5DC1-A8FF-4E65-A5F4-1A96B564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实际PageSignal；复杂路径900字 / 80字重叠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FF1D3-4F43-4582-B143-38D52F82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低质量恢复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6F4006-4344-4B3B-BE8E-E45239C9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保留原图候选；置信度选优仍是启发式</a:t>
            </a:r>
          </a:p>
        </p:txBody>
      </p:sp>
    </p:spTree>
    <p:extLst>
      <p:ext uri="{BB962C8B-B14F-4D97-AF65-F5344CB8AC3E}">
        <p14:creationId xmlns:p14="http://schemas.microsoft.com/office/powerpoint/2010/main" val="722889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368A8-75C9-494D-AD21-9AD86182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开发验收与真实模型状态</a:t>
            </a:r>
          </a:p>
        </p:txBody>
      </p:sp>
      <p:graphicFrame>
        <p:nvGraphicFramePr>
          <p:cNvPr id="5" name=""/>
          <p:cNvGraphicFramePr/>
          <p:nvPr/>
        </p:nvGraphicFramePr>
        <p:xfrm>
          <a:off xmlns:a="http://schemas.openxmlformats.org/drawingml/2006/main" x="723900" y="1524000"/>
          <a:ext xmlns:a="http://schemas.openxmlformats.org/drawingml/2006/main" cx="107442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2190750"/>
                <a:gridCol w="5314950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评测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结果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范围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问数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规则，合成开发题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文档问答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11/11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混合检索 + 摘录引用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明确工具计划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公开Chinook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人工开发题，非标准基准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gpt-6-luna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HTTP 401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未获得真实模型成绩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2FCE9E-1057-43F6-9B26-61BCC6D5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10744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开发通过率不能换算官方分数；回退不算真实模型通过</a:t>
            </a:r>
          </a:p>
        </p:txBody>
      </p:sp>
    </p:spTree>
    <p:extLst>
      <p:ext uri="{BB962C8B-B14F-4D97-AF65-F5344CB8AC3E}">
        <p14:creationId xmlns:p14="http://schemas.microsoft.com/office/powerpoint/2010/main" val="154467762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310A13-C4B7-4D2C-BBFE-A90CD34D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OCR成对扰动对照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mlns:a="http://schemas.openxmlformats.org/drawingml/2006/main" x="1047750" y="1666875"/>
          <a:ext xmlns:a="http://schemas.openxmlformats.org/drawingml/2006/main" cx="100012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67a727f4044fd6"/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0735A9-D2FF-41F6-B183-C0BF5F01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074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同一组10种合成扰动；只证明本组关键事实恢复，不能外推</a:t>
            </a:r>
          </a:p>
        </p:txBody>
      </p:sp>
    </p:spTree>
    <p:extLst>
      <p:ext uri="{BB962C8B-B14F-4D97-AF65-F5344CB8AC3E}">
        <p14:creationId xmlns:p14="http://schemas.microsoft.com/office/powerpoint/2010/main" val="13410991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7FBCB7-46EF-469C-A149-46CAA3DD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文档规模与全局语义延迟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23900" y="1638300"/>
          <a:ext xmlns:a="http://schemas.openxmlformats.org/drawingml/2006/main" cx="10744200" cy="2619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2286000"/>
                <a:gridCol w="3086100"/>
                <a:gridCol w="3086100"/>
              </a:tblGrid>
              <a:tr h="65484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页数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切片数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热P50 / ms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热P95 / ms</a:t>
                      </a:r>
                    </a:p>
                  </a:txBody>
                  <a:tcPr marL="91440" marR="91440" marT="45720" marB="45720">
                    <a:solidFill>
                      <a:srgbClr val="162B3C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21.154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21.897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113.635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134.712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54844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523.822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2B3C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618.806</a:t>
                      </a:r>
                    </a:p>
                  </a:txBody>
                  <a:tcPr marL="91440" marR="91440" marT="45720" marB="45720">
                    <a:solidFill>
                      <a:srgbClr val="F3F7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F230B-869B-46DC-918D-8716F9C87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10744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500页首次全局回答 5.390 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59D53-964C-4867-8492-AEA7A8DB8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7442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26371"/>
                </a:solidFill>
                <a:latin typeface="Microsoft YaHei"/>
                <a:ea typeface="Microsoft YaHei"/>
                <a:cs typeface="Microsoft YaHei"/>
              </a:rPr>
              <a:t>首次全局编码与热缓存单列，非新进程完整冷启动</a:t>
            </a:r>
          </a:p>
        </p:txBody>
      </p:sp>
    </p:spTree>
    <p:extLst>
      <p:ext uri="{BB962C8B-B14F-4D97-AF65-F5344CB8AC3E}">
        <p14:creationId xmlns:p14="http://schemas.microsoft.com/office/powerpoint/2010/main" val="11036932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8F44B-DF7F-4E82-B791-02FC47F2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五轮会话与实际故障恢复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47C8C-247C-44E2-A772-9395CCCC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五轮硬重启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B7A89-914A-4414-A72B-0A8897CB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kill子服务后恢复：29584 / 22992 / 4998 / 1 /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30B92-E158-48FA-B055-D1C8DE28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澄清与会话锁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BA345-8789-40E4-8725-D0F2473C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pending选项跨重启；锁定503，解锁保留历史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AB7002-1481-42A2-BB5E-078D71F4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故障实际审计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F28A60-2F36-497D-A979-0DD75B57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相同十项首次4/10，修复后10/10；不改主服务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B5BDE-2205-4C2C-8194-76E2E426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完整本地回归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509167-B465-4228-AE10-A36A96B8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524项通过；源文件、缺库、锁定失败均停止后步</a:t>
            </a:r>
          </a:p>
        </p:txBody>
      </p:sp>
    </p:spTree>
    <p:extLst>
      <p:ext uri="{BB962C8B-B14F-4D97-AF65-F5344CB8AC3E}">
        <p14:creationId xmlns:p14="http://schemas.microsoft.com/office/powerpoint/2010/main" val="15912633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0E757F-B1CF-4E68-918A-442F13BF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实用创新与转化价值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2E61F-24BA-422D-A361-41324D12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可计算证据契约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6110D-6B91-46D0-B57C-E8C40BE9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公式、参数、时间与量纲共同决定能否计算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29E28-7AE4-4138-A04F-ECDAC67B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可核验的执行链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37C07-0615-45E1-9320-6562A3C8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依赖来自实际工具引用；失败原因与原文可回看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7888C6-7F1D-4A6F-BAE1-1334C41D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独立可复现交付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1E0F9C-7966-4EA9-9C9D-20B44E43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公开权重、Schema、样本、许可与精确依赖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8B5BA-D7A4-4AE1-AA41-1810BD60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价值证据边界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63C35-67FB-43EF-B735-FEB914A9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尚无真实用户收益；不虚构节省工时或商业回报</a:t>
            </a:r>
          </a:p>
        </p:txBody>
      </p:sp>
    </p:spTree>
    <p:extLst>
      <p:ext uri="{BB962C8B-B14F-4D97-AF65-F5344CB8AC3E}">
        <p14:creationId xmlns:p14="http://schemas.microsoft.com/office/powerpoint/2010/main" val="157675994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AC0880-5512-49E1-AF51-7F9E04FE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后续验收与提交门槛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DC708-A9BB-4328-9A4C-F476027D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真实模型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450F97-B32F-486C-AAB0-97A92BAD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有效gpt-6-luna鉴权、通用多跳与跨源五轮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82F23-754F-4974-B06B-74B3AEDC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独立效果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C7D06-856F-46C1-AF85-08CD537A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冻结保留题；未知Schema与真实低质量文档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E94F5-8257-44CD-9EA0-823C15B3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端到端效率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7764D-2E7F-4494-9146-F461DCB4B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814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记录模型token成本、冷/热和故障恢复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4AF4B-41C0-4EBF-B329-11AD7F66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6B87"/>
                </a:solidFill>
                <a:latin typeface="Microsoft YaHei"/>
                <a:ea typeface="Microsoft YaHei"/>
                <a:cs typeface="Microsoft YaHei"/>
              </a:rPr>
              <a:t>正式交付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15EAE-EF8F-4A05-BF89-57A2DF0A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7524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62B3C"/>
                </a:solidFill>
                <a:latin typeface="Microsoft YaHei"/>
                <a:ea typeface="Microsoft YaHei"/>
                <a:cs typeface="Microsoft YaHei"/>
              </a:rPr>
              <a:t>官方模板迁移、匿名校验、完整资产新目录验包</a:t>
            </a:r>
          </a:p>
        </p:txBody>
      </p:sp>
    </p:spTree>
    <p:extLst>
      <p:ext uri="{BB962C8B-B14F-4D97-AF65-F5344CB8AC3E}">
        <p14:creationId xmlns:p14="http://schemas.microsoft.com/office/powerpoint/2010/main" val="998100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2026-10-01T03:13:00.0260000Z</dcterms:created>
  <dcterms:modified xsi:type="dcterms:W3CDTF">2026-10-01T03:13:00.0260000Z</dcterms:modified>
</coreProperties>
</file>