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b3fb6953d24c35" /><Relationship Type="http://schemas.openxmlformats.org/officeDocument/2006/relationships/extended-properties" Target="/docProps/app.xml" Id="Ra29a9e223ba84463" /><Relationship Type="http://schemas.openxmlformats.org/officeDocument/2006/relationships/officeDocument" Target="/ppt/presentation.xml" Id="R8ab656db5ce848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28185ed5ef4e5d"/>
  </p:sldMasterIdLst>
  <p:notesMasterIdLst>
    <p:notesMasterId xmlns:r="http://schemas.openxmlformats.org/officeDocument/2006/relationships" r:id="Rb59756c2c12e4c90"/>
  </p:notesMasterIdLst>
  <p:sldIdLst>
    <p:sldId xmlns:r="http://schemas.openxmlformats.org/officeDocument/2006/relationships" id="256" r:id="Rdc6efae745044ab1"/>
    <p:sldId xmlns:r="http://schemas.openxmlformats.org/officeDocument/2006/relationships" id="257" r:id="Rd87685ebc7b94cdf"/>
    <p:sldId xmlns:r="http://schemas.openxmlformats.org/officeDocument/2006/relationships" id="258" r:id="R1ad4ae5eda344d92"/>
    <p:sldId xmlns:r="http://schemas.openxmlformats.org/officeDocument/2006/relationships" id="259" r:id="Rb274033f79cb4bee"/>
    <p:sldId xmlns:r="http://schemas.openxmlformats.org/officeDocument/2006/relationships" id="260" r:id="R36ebd594d58f48ea"/>
    <p:sldId xmlns:r="http://schemas.openxmlformats.org/officeDocument/2006/relationships" id="261" r:id="R543cf9c891e84d3a"/>
    <p:sldId xmlns:r="http://schemas.openxmlformats.org/officeDocument/2006/relationships" id="262" r:id="R0e291c6a72dd4f80"/>
    <p:sldId xmlns:r="http://schemas.openxmlformats.org/officeDocument/2006/relationships" id="263" r:id="R4909f148be1441a2"/>
    <p:sldId xmlns:r="http://schemas.openxmlformats.org/officeDocument/2006/relationships" id="264" r:id="R3a5021d5fc9940df"/>
    <p:sldId xmlns:r="http://schemas.openxmlformats.org/officeDocument/2006/relationships" id="265" r:id="R2b7a4e604f5242b0"/>
    <p:sldId xmlns:r="http://schemas.openxmlformats.org/officeDocument/2006/relationships" id="266" r:id="R3360144bdc324e56"/>
    <p:sldId xmlns:r="http://schemas.openxmlformats.org/officeDocument/2006/relationships" id="267" r:id="R4a4c018315cb4cef"/>
    <p:sldId xmlns:r="http://schemas.openxmlformats.org/officeDocument/2006/relationships" id="268" r:id="R6b54069424fe471a"/>
    <p:sldId xmlns:r="http://schemas.openxmlformats.org/officeDocument/2006/relationships" id="269" r:id="R227bb8343e2d443e"/>
    <p:sldId xmlns:r="http://schemas.openxmlformats.org/officeDocument/2006/relationships" id="270" r:id="R4db6cc00dc7449af"/>
    <p:sldId xmlns:r="http://schemas.openxmlformats.org/officeDocument/2006/relationships" id="271" r:id="R060ae6fe02294c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421fdebb9a4edb" /><Relationship Type="http://schemas.openxmlformats.org/officeDocument/2006/relationships/slideMaster" Target="/ppt/slideMasters/slideMaster1.xml" Id="R8628185ed5ef4e5d" /><Relationship Type="http://schemas.openxmlformats.org/officeDocument/2006/relationships/notesMaster" Target="/ppt/notesMasters/notesMaster1.xml" Id="Rb59756c2c12e4c90" /><Relationship Type="http://schemas.openxmlformats.org/officeDocument/2006/relationships/presProps" Target="/ppt/presProps.xml" Id="R482202f1c6d5438b" /><Relationship Type="http://schemas.openxmlformats.org/officeDocument/2006/relationships/tableStyles" Target="/ppt/tableStyles.xml" Id="R34ac1fb74c29455c" /><Relationship Type="http://schemas.openxmlformats.org/officeDocument/2006/relationships/slide" Target="/ppt/slides/slide1.xml" Id="Rdc6efae745044ab1" /><Relationship Type="http://schemas.openxmlformats.org/officeDocument/2006/relationships/slide" Target="/ppt/slides/slide2.xml" Id="Rd87685ebc7b94cdf" /><Relationship Type="http://schemas.openxmlformats.org/officeDocument/2006/relationships/slide" Target="/ppt/slides/slide3.xml" Id="R1ad4ae5eda344d92" /><Relationship Type="http://schemas.openxmlformats.org/officeDocument/2006/relationships/slide" Target="/ppt/slides/slide4.xml" Id="Rb274033f79cb4bee" /><Relationship Type="http://schemas.openxmlformats.org/officeDocument/2006/relationships/slide" Target="/ppt/slides/slide5.xml" Id="R36ebd594d58f48ea" /><Relationship Type="http://schemas.openxmlformats.org/officeDocument/2006/relationships/slide" Target="/ppt/slides/slide6.xml" Id="R543cf9c891e84d3a" /><Relationship Type="http://schemas.openxmlformats.org/officeDocument/2006/relationships/slide" Target="/ppt/slides/slide7.xml" Id="R0e291c6a72dd4f80" /><Relationship Type="http://schemas.openxmlformats.org/officeDocument/2006/relationships/slide" Target="/ppt/slides/slide8.xml" Id="R4909f148be1441a2" /><Relationship Type="http://schemas.openxmlformats.org/officeDocument/2006/relationships/slide" Target="/ppt/slides/slide9.xml" Id="R3a5021d5fc9940df" /><Relationship Type="http://schemas.openxmlformats.org/officeDocument/2006/relationships/slide" Target="/ppt/slides/slide10.xml" Id="R2b7a4e604f5242b0" /><Relationship Type="http://schemas.openxmlformats.org/officeDocument/2006/relationships/slide" Target="/ppt/slides/slide11.xml" Id="R3360144bdc324e56" /><Relationship Type="http://schemas.openxmlformats.org/officeDocument/2006/relationships/slide" Target="/ppt/slides/slide12.xml" Id="R4a4c018315cb4cef" /><Relationship Type="http://schemas.openxmlformats.org/officeDocument/2006/relationships/slide" Target="/ppt/slides/slide13.xml" Id="R6b54069424fe471a" /><Relationship Type="http://schemas.openxmlformats.org/officeDocument/2006/relationships/slide" Target="/ppt/slides/slide14.xml" Id="R227bb8343e2d443e" /><Relationship Type="http://schemas.openxmlformats.org/officeDocument/2006/relationships/slide" Target="/ppt/slides/slide15.xml" Id="R4db6cc00dc7449af" /><Relationship Type="http://schemas.openxmlformats.org/officeDocument/2006/relationships/slide" Target="/ppt/slides/slide16.xml" Id="R060ae6fe02294c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0efd0a1a6945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aee00d4032444a" /><Relationship Type="http://schemas.openxmlformats.org/officeDocument/2006/relationships/notesMaster" Target="/ppt/notesMasters/notesMaster1.xml" Id="R8693dcc18b3047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ca84d999d74474" /><Relationship Type="http://schemas.openxmlformats.org/officeDocument/2006/relationships/notesMaster" Target="/ppt/notesMasters/notesMaster1.xml" Id="Ra355445a7ff841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5ff77f45d0482f" /><Relationship Type="http://schemas.openxmlformats.org/officeDocument/2006/relationships/notesMaster" Target="/ppt/notesMasters/notesMaster1.xml" Id="R3c1a5e4ef27f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17e98915324d9a" /><Relationship Type="http://schemas.openxmlformats.org/officeDocument/2006/relationships/notesMaster" Target="/ppt/notesMasters/notesMaster1.xml" Id="R35044a4be4214c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ec45cc17ae402e" /><Relationship Type="http://schemas.openxmlformats.org/officeDocument/2006/relationships/notesMaster" Target="/ppt/notesMasters/notesMaster1.xml" Id="Rdbb706ea14134d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b8c5cac09f4946" /><Relationship Type="http://schemas.openxmlformats.org/officeDocument/2006/relationships/notesMaster" Target="/ppt/notesMasters/notesMaster1.xml" Id="R697a33d28dad4b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5219b7696d49ff" /><Relationship Type="http://schemas.openxmlformats.org/officeDocument/2006/relationships/notesMaster" Target="/ppt/notesMasters/notesMaster1.xml" Id="R9313e4d9fddd49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767a79bb544a9b" /><Relationship Type="http://schemas.openxmlformats.org/officeDocument/2006/relationships/notesMaster" Target="/ppt/notesMasters/notesMaster1.xml" Id="Rc6ce78cd829e4d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5abbdf0d6f457a" /><Relationship Type="http://schemas.openxmlformats.org/officeDocument/2006/relationships/notesMaster" Target="/ppt/notesMasters/notesMaster1.xml" Id="R4c6c34e6489547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17e86f92b84823" /><Relationship Type="http://schemas.openxmlformats.org/officeDocument/2006/relationships/notesMaster" Target="/ppt/notesMasters/notesMaster1.xml" Id="R834e45a4e6b140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936f2f95d14ac5" /><Relationship Type="http://schemas.openxmlformats.org/officeDocument/2006/relationships/notesMaster" Target="/ppt/notesMasters/notesMaster1.xml" Id="R124c1485d07545d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4c163a768c4d0e" /><Relationship Type="http://schemas.openxmlformats.org/officeDocument/2006/relationships/notesMaster" Target="/ppt/notesMasters/notesMaster1.xml" Id="R7c265d855e2344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dacef0b14b4cc1" /><Relationship Type="http://schemas.openxmlformats.org/officeDocument/2006/relationships/notesMaster" Target="/ppt/notesMasters/notesMaster1.xml" Id="R2a88635fe7f143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654ea47a4042ce" /><Relationship Type="http://schemas.openxmlformats.org/officeDocument/2006/relationships/notesMaster" Target="/ppt/notesMasters/notesMaster1.xml" Id="R4d014febace949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4d3f29165a46b6" /><Relationship Type="http://schemas.openxmlformats.org/officeDocument/2006/relationships/notesMaster" Target="/ppt/notesMasters/notesMaster1.xml" Id="R8249146629de49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5330de96ba485c" /><Relationship Type="http://schemas.openxmlformats.org/officeDocument/2006/relationships/notesMaster" Target="/ppt/notesMasters/notesMaster1.xml" Id="R1a7b2ba28871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依据：specification/official-track8.pdf；匿名自定义版式，组委会模板未提供。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依据：官方赛题基础/中级/决赛任务；docs/ACCEPTANCE.md。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依据：docs/CURRENT_ARCHITECTURE.md；backend/omni_agent.py、dependency_agent.py。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依据：backend/nl2sql/；docs/CHINOOK_RULES_REPORT.json、SCHEMA_SCALE_REPORT.json。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依据：samples/manifest.json、backend/knowledge_store.py、ocr.py。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依据：backend/dense_retrieval.py、cross_source.py；docs/RAG_SCALE_REPORT.json。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依据：docs/HYBRID_ACCEPTANCE_REPORT.json；formula_binding.py、unit_algebra.py。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依据：HYBRID_ACCEPTANCE_REPORT.json；dependency_agent.py。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依据：官方九项中级任务；docs/ACCEPTANCE.md M01-M05。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依据：docs/ACCEPTANCE.md M06-M09；ROBUSTNESS_REPORT.json。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依据：HYBRID_ACCEPTANCE_REPORT.json、CHINOOK_RULES_REPORT.json、MODEL_API_PROBE.json。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依据：docs/ROBUSTNESS_REPORT.json；十种合成扰动，不是OHR-Bench。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依据：docs/RAG_SCALE_REPORT.json；文字PDF在线混合摘录，不含OCR与外部生成。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依据：实际网页五轮验证；session.py、docs/DEMO_SCRIPT.md。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依据：公式/单位/日期守卫与公开资产验包；不申报已证实的SOTA领先。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依据：docs/ACCEPTANCE.md；官方决赛交付要求。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389a8f939b4f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048ca5c4049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e6d3ebd654b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6d1f22eab44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1a254e50a4a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33b8cbb9942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9D2D2E-05D6-48DC-ADF4-8F01603B4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A6FC20-15EC-4608-AB7C-03C2208D86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485F87-0EF8-419E-A6A6-936CAB8BA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148F8E-8ABF-4544-A917-6C3B46A9B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7CCCB23-CD9D-4253-B307-EE03C3CE53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FF6A21-911F-49AD-859C-51F0ABEDFA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206CC6-48A8-4A99-B5E4-40673C2722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F839D1-B8E7-495F-B66E-739B878CF3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B7A80D-E6F8-43CB-8137-54A22B5BB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C5BE03-9057-42AE-A42D-371FE10187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0eda6d5a9e4cc9" /><Relationship Type="http://schemas.openxmlformats.org/officeDocument/2006/relationships/slideLayout" Target="/ppt/slideLayouts/slideLayout1.xml" Id="R51f79ba16a0e4119" /><Relationship Type="http://schemas.openxmlformats.org/officeDocument/2006/relationships/slideLayout" Target="/ppt/slideLayouts/slideLayout2.xml" Id="R80656e87a8ca4176" /><Relationship Type="http://schemas.openxmlformats.org/officeDocument/2006/relationships/slideLayout" Target="/ppt/slideLayouts/slideLayout3.xml" Id="R9f780f328123400f" /><Relationship Type="http://schemas.openxmlformats.org/officeDocument/2006/relationships/slideLayout" Target="/ppt/slideLayouts/slideLayout4.xml" Id="Ra774fa23e040435b" /><Relationship Type="http://schemas.openxmlformats.org/officeDocument/2006/relationships/slideLayout" Target="/ppt/slideLayouts/slideLayout5.xml" Id="R5b7754fb7d7e4a8b" /><Relationship Type="http://schemas.openxmlformats.org/officeDocument/2006/relationships/slideLayout" Target="/ppt/slideLayouts/slideLayout6.xml" Id="R7df47dfa2d954b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f79ba16a0e4119"/>
    <p:sldLayoutId xmlns:r="http://schemas.openxmlformats.org/officeDocument/2006/relationships" id="2147483650" r:id="R80656e87a8ca4176"/>
    <p:sldLayoutId xmlns:r="http://schemas.openxmlformats.org/officeDocument/2006/relationships" id="2147483651" r:id="R9f780f328123400f"/>
    <p:sldLayoutId xmlns:r="http://schemas.openxmlformats.org/officeDocument/2006/relationships" id="2147483652" r:id="Ra774fa23e040435b"/>
    <p:sldLayoutId xmlns:r="http://schemas.openxmlformats.org/officeDocument/2006/relationships" id="2147483653" r:id="R5b7754fb7d7e4a8b"/>
    <p:sldLayoutId xmlns:r="http://schemas.openxmlformats.org/officeDocument/2006/relationships" id="2147483654" r:id="R7df47dfa2d954b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cf6855fb24783" /><Relationship Type="http://schemas.openxmlformats.org/officeDocument/2006/relationships/notesSlide" Target="/ppt/notesSlides/notesSlide1.xml" Id="R74f0c506838d4b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69b944a0046cb" /><Relationship Type="http://schemas.openxmlformats.org/officeDocument/2006/relationships/notesSlide" Target="/ppt/notesSlides/notesSlide2.xml" Id="R121de640e0364e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18d3ddb424402" /><Relationship Type="http://schemas.openxmlformats.org/officeDocument/2006/relationships/notesSlide" Target="/ppt/notesSlides/notesSlide3.xml" Id="Rc45e44022c7c41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ad91f74a6a4bc3" /><Relationship Type="http://schemas.openxmlformats.org/officeDocument/2006/relationships/notesSlide" Target="/ppt/notesSlides/notesSlide4.xml" Id="R069c74eb23ed4e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850529b8dd4dc2" /><Relationship Type="http://schemas.openxmlformats.org/officeDocument/2006/relationships/notesSlide" Target="/ppt/notesSlides/notesSlide5.xml" Id="R72420023d3264f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32e47acbd04397" /><Relationship Type="http://schemas.openxmlformats.org/officeDocument/2006/relationships/notesSlide" Target="/ppt/notesSlides/notesSlide6.xml" Id="Rabeef51af9d243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b08b6be3f4d8a" /><Relationship Type="http://schemas.openxmlformats.org/officeDocument/2006/relationships/notesSlide" Target="/ppt/notesSlides/notesSlide7.xml" Id="R9281e0ed63ca4e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de53c4d3d4421" /><Relationship Type="http://schemas.openxmlformats.org/officeDocument/2006/relationships/notesSlide" Target="/ppt/notesSlides/notesSlide8.xml" Id="R19086002dd7f4a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baa35a023466c" /><Relationship Type="http://schemas.openxmlformats.org/officeDocument/2006/relationships/notesSlide" Target="/ppt/notesSlides/notesSlide9.xml" Id="R79b1ee0849fb48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ca75655d142e3" /><Relationship Type="http://schemas.openxmlformats.org/officeDocument/2006/relationships/notesSlide" Target="/ppt/notesSlides/notesSlide10.xml" Id="Rdd0cac06b0444d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cde5d92728400b" /><Relationship Type="http://schemas.openxmlformats.org/officeDocument/2006/relationships/notesSlide" Target="/ppt/notesSlides/notesSlide11.xml" Id="R5db6887d395840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77bbe20d614fad" /><Relationship Type="http://schemas.openxmlformats.org/officeDocument/2006/relationships/chart" Target="/ppt/slides/charts/chart1.xml" Id="Rfd32547e3b6e44b5" /><Relationship Type="http://schemas.openxmlformats.org/officeDocument/2006/relationships/notesSlide" Target="/ppt/notesSlides/notesSlide12.xml" Id="R6de0c813522544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ca5b268284466" /><Relationship Type="http://schemas.openxmlformats.org/officeDocument/2006/relationships/notesSlide" Target="/ppt/notesSlides/notesSlide13.xml" Id="Rede19943a1bb42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f49b879cfd4c94" /><Relationship Type="http://schemas.openxmlformats.org/officeDocument/2006/relationships/notesSlide" Target="/ppt/notesSlides/notesSlide14.xml" Id="R027f566fd4c94f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22bef588140b6" /><Relationship Type="http://schemas.openxmlformats.org/officeDocument/2006/relationships/notesSlide" Target="/ppt/notesSlides/notesSlide15.xml" Id="R522a87650b5843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55eeb55e1c424f" /><Relationship Type="http://schemas.openxmlformats.org/officeDocument/2006/relationships/notesSlide" Target="/ppt/notesSlides/notesSlide16.xml" Id="Rb2a0ccaa1acb4fe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关键事实正确样本数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Data'!$A$2:$A$3</c:f>
              <c:strCache>
                <c:ptCount val="2"/>
                <c:pt idx="0">
                  <c:v>原图识别</c:v>
                </c:pt>
                <c:pt idx="1">
                  <c:v>有界恢复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8</c:v>
                </c:pt>
                <c:pt idx="1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459CC-02E0-4212-9344-8D0769F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744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OmniAgent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87883-DF22-474D-AA14-CBCB4DB5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7442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多模态数据驱动的</a:t>
            </a:r>
          </a:p>
          <a:p xmlns:a="http://schemas.openxmlformats.org/drawingml/2006/main">
            <a:pPr>
              <a:defRPr sz="34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可解释精准问数问答智能体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4B8E8-D5B7-405C-A478-20CE3C85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ADA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ADAE4"/>
                </a:solidFill>
                <a:latin typeface="Microsoft YaHei"/>
                <a:ea typeface="Microsoft YaHei"/>
                <a:cs typeface="Microsoft YaHei"/>
              </a:rPr>
              <a:t>ICT 赛题八 · 2026-10-01</a:t>
            </a:r>
          </a:p>
        </p:txBody>
      </p:sp>
    </p:spTree>
    <p:extLst>
      <p:ext uri="{BB962C8B-B14F-4D97-AF65-F5344CB8AC3E}">
        <p14:creationId xmlns:p14="http://schemas.microsoft.com/office/powerpoint/2010/main" val="273384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76A69-7ACD-43FF-BDBD-D1A9F536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赛题目标与当前实现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0006C-FE5C-47E6-AF66-6D2B9F90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数据库问数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945A8-C38D-4E17-8443-5B6F78A4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Schema链接、要素识别、澄清、JOIN与只读执行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82DD7-1C5A-4EB6-B214-27E25610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多模态问答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68A23-6A34-4787-BBCE-1964AEAC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六种格式、真实OCR、本地BGE与BM25融合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56ABD-0320-4EBA-ACA1-D12A1FC2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跨源计算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38AE8-8F18-4F6B-80A7-D11B2D75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公式与数据绑定，核验单位、年份与政策版本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07A19-534F-40B9-B9B3-61DF0406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可解释交互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16F3A-4AC5-4DE5-A370-1DD20F37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实际SQL、引用位置、依赖链与五轮会话</a:t>
            </a:r>
          </a:p>
        </p:txBody>
      </p:sp>
    </p:spTree>
    <p:extLst>
      <p:ext uri="{BB962C8B-B14F-4D97-AF65-F5344CB8AC3E}">
        <p14:creationId xmlns:p14="http://schemas.microsoft.com/office/powerpoint/2010/main" val="401523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6096000" y="4419600"/>
            <a:ext cx="38481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B87"/>
            </a:solidFill>
            <a:tailEnd type="arrow" w="med" len="med"/>
          </a:ln>
        </p:spPr>
      </p:cxnSp>
      <p:cxnSp>
        <p:nvCxnSpPr>
          <p:cNvPr id="14" name=""/>
          <p:cNvCxnSpPr>
            <a:stCxn xmlns:a="http://schemas.openxmlformats.org/drawingml/2006/main" id="2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190750"/>
            <a:ext cx="384810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B87"/>
            </a:solidFill>
            <a:tailEnd type="arrow" w="med" len="med"/>
          </a:ln>
        </p:spPr>
      </p:cxnSp>
      <p:cxnSp>
        <p:nvCxnSpPr>
          <p:cNvPr id="15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4419600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6096000" y="219075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87"/>
            </a:solidFill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247900" y="4419600"/>
            <a:ext cx="38481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B87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2247900" y="2190750"/>
            <a:ext cx="3848100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B8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D8044B-EF20-423A-8236-5CD4579D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系统架构与共享证据契约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433FB-77D1-4EB4-A8CD-1A9BE25E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0744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14288">
            <a:solidFill>
              <a:srgbClr val="176B8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用户问题 → 结构化会话 → 路由与工具计划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5ADAF-0EC3-4A2E-B8E8-BAAC1F90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0480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14288">
            <a:solidFill>
              <a:srgbClr val="176B8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结构化数据</a:t>
            </a:r>
          </a:p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Schema / 值索引</a:t>
            </a:r>
          </a:p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安全SQL / 只读执行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D33FE-E6BD-43FB-BAF2-448C4625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05125"/>
            <a:ext cx="30480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14288">
            <a:solidFill>
              <a:srgbClr val="176B8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非结构化数据</a:t>
            </a:r>
          </a:p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解析 / OCR</a:t>
            </a:r>
          </a:p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BGE + BM25 + RRF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0466C-3995-49CE-81AF-F9869BBA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30480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14288">
            <a:solidFill>
              <a:srgbClr val="176B8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融合执行</a:t>
            </a:r>
          </a:p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有界DAG / 前步引用</a:t>
            </a:r>
          </a:p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公式 / 单位 / 年份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15CD8-361F-46A6-914B-CFBB9F74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0744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14288">
            <a:solidFill>
              <a:srgbClr val="176B87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来源核验 → 最终答案 / 主动澄清 / 明确失败</a:t>
            </a:r>
          </a:p>
        </p:txBody>
      </p:sp>
    </p:spTree>
    <p:extLst>
      <p:ext uri="{BB962C8B-B14F-4D97-AF65-F5344CB8AC3E}">
        <p14:creationId xmlns:p14="http://schemas.microsoft.com/office/powerpoint/2010/main" val="1946817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EEBD7-4D4B-4E63-BF9E-8CE7E2E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NL2SQL：结构化计划与安全执行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DA675-8A3C-45AB-BFD8-85D00CE4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字段与值共同链接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16A10-9B56-4F7A-A3D9-3105295C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显式字段优先；Unicode归一化与值词边界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90665-AB08-4BBC-A4BF-D34AB4A0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JOIN粒度核验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2BBD0-471D-4F67-91D6-0D725A45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复合键、关系路径与防扇出；歧义进入澄清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C9BF2-1865-4935-830C-91976BC0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计划经过统一安全门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AA093-3D52-4966-94FA-98EDCF36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模型不能执行裸SQL；参数化与只读AST验证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C4765-1C8A-458D-AAB2-12982501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开发实测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21CAB-9A1E-40A1-B413-C151926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Chinook 12/12；11/40/80表干扰9/9</a:t>
            </a:r>
          </a:p>
        </p:txBody>
      </p:sp>
    </p:spTree>
    <p:extLst>
      <p:ext uri="{BB962C8B-B14F-4D97-AF65-F5344CB8AC3E}">
        <p14:creationId xmlns:p14="http://schemas.microsoft.com/office/powerpoint/2010/main" val="863320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873C0-FEDB-487E-9F9D-C195603A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多模态入库与可回看的来源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1982F-6BC9-4D72-A55E-CF7D9E72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15份实际样本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08863-20E8-42FF-BCAA-AC57EF5A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六种格式，自建合成CC0；不使用客户私有资料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7AB7E-D452-46BC-84D6-7F041997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结构定位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0855B-9269-4435-A68D-F811418D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保留页、行、单元格、标题路径与OCR区域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52423-3300-46C6-BDB8-54C48FEA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真实OCR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1B751-1D05-4B80-997C-61EB7696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RapidOCR ONNX CPU；三次以内恢复尝试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F32E2-F669-481E-BBA8-FC87DEED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原文件回看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93230-B1A4-45DA-AF39-3C11DDD3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内容寻址与SHA核验；文档来源属于独立项目</a:t>
            </a:r>
          </a:p>
        </p:txBody>
      </p:sp>
    </p:spTree>
    <p:extLst>
      <p:ext uri="{BB962C8B-B14F-4D97-AF65-F5344CB8AC3E}">
        <p14:creationId xmlns:p14="http://schemas.microsoft.com/office/powerpoint/2010/main" val="1890351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DC09D-F258-4B2F-B242-E146F576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混合检索与编号约束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BADDD-FB5C-4476-8B24-EB9B7501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BGE + BM25 + RRF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5562B-2AD3-4F78-8BE8-2991A87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真实本地向量与词匹配融合，保留各路排名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70D82-7A3C-41E1-A086-01AA6CDC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编号限定证据范围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F06EB-8418-4470-9335-07C934C5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CASE0005不能命中CASE00050；缺失编号拒答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6893F-484B-4E14-821F-C0E0128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引用与数字核验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E95E7-FAD4-4F59-907F-EAC48779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原文存在不等于完整语义蕴含，保持明确边界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97D23-48E5-4E43-9E5C-8005A1DA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阈值仍需独立校准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D50D4-2F6D-426C-A855-F8C500D0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开发门槛不作为公开泛化准确率证明</a:t>
            </a:r>
          </a:p>
        </p:txBody>
      </p:sp>
    </p:spTree>
    <p:extLst>
      <p:ext uri="{BB962C8B-B14F-4D97-AF65-F5344CB8AC3E}">
        <p14:creationId xmlns:p14="http://schemas.microsoft.com/office/powerpoint/2010/main" val="7136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6F52F-33CC-4A8B-B1E5-164FAE2B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跨源预测的可计算证据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107442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000625"/>
                <a:gridCol w="33623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取值或公式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核验条件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 = 基准 × (1 + 增长率)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明确基准年与目标年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2025华东销售额 29584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全年范围与金额单位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2026适用增长率 12%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参数适用年份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2026预测 33134.08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来源、尺度与AST均有效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D5C01-AF9F-489E-B161-22A49432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rPr>
              <a:t>合成开发例子；年份或币种冲突时停止输出最终结论</a:t>
            </a:r>
          </a:p>
        </p:txBody>
      </p:sp>
    </p:spTree>
    <p:extLst>
      <p:ext uri="{BB962C8B-B14F-4D97-AF65-F5344CB8AC3E}">
        <p14:creationId xmlns:p14="http://schemas.microsoft.com/office/powerpoint/2010/main" val="2013743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930AD-E657-48F5-9DE2-DBBF52D4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五类跨源流程与实际依赖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23900" y="1495425"/>
          <a:ext xmlns:a="http://schemas.openxmlformats.org/drawingml/2006/main" cx="107442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600700"/>
                <a:gridCol w="2857500"/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数据依赖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文档公式 → SQL基准 → Excel参数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 / 单位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SQL金额 → Excel费率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百分数尺度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门槛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SQL指标 → 文档阈值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 / 量纲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历史条款 → 问题日期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生效 / 重叠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客户口径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SQL实体 → 文档说明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实体 / 引用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75F10-0116-44DE-9731-8D9CD6B4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rPr>
              <a:t>五流程工具计划已验收；未知自然语言模型规划仍待实测</a:t>
            </a:r>
          </a:p>
        </p:txBody>
      </p:sp>
    </p:spTree>
    <p:extLst>
      <p:ext uri="{BB962C8B-B14F-4D97-AF65-F5344CB8AC3E}">
        <p14:creationId xmlns:p14="http://schemas.microsoft.com/office/powerpoint/2010/main" val="402341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9C00C-8B22-4DD3-8ED3-7D06DAA0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中级任务：问数侧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39CB5-74EF-47EC-B7D6-B40FC0DD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要素识别与改写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DB227E-3C0E-4253-A52B-8F9A0411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NFKC、别名、值词边界；文本扰动5/5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ED4C0-8447-4979-ADE8-C78BC71F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跨域与低示例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6B6CF-3FBB-4E4B-B7C8-2E6E97A1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Chinook 11表，0 few-shot开发验收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CEF98-8765-43AE-A530-727E6CDF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主动澄清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ADC57-A7E6-469A-A472-69EEB3E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指标、值、时间和JOIN候选回填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824DF-B017-443A-94CF-AB0BF340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复杂结构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F5ED4-C689-42D9-A836-21A4884F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数十表链接、JOIN、聚合、嵌套与粒度核验</a:t>
            </a:r>
          </a:p>
        </p:txBody>
      </p:sp>
    </p:spTree>
    <p:extLst>
      <p:ext uri="{BB962C8B-B14F-4D97-AF65-F5344CB8AC3E}">
        <p14:creationId xmlns:p14="http://schemas.microsoft.com/office/powerpoint/2010/main" val="20646154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1EAA7-06E0-42D9-953E-6469D89A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中级任务：文档与计算侧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50D6C-8987-464C-A7A2-300CBAF5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文档公式绑定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4BA9F-7A2A-41D0-A763-292C8318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AST计算，来源参数、单位尺度与年份守卫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C1093-878F-43AB-9531-EF51A2DF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非标准目录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D5F85-58EE-4071-91D1-488D67AF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多种标题层级；行号与层级跳跃告警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72854-68E0-469D-9442-150D1328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复杂度路由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8F5CF-C101-4189-8742-984858FE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实际PageSignal；复杂路径900字 / 80字重叠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C61D3-B4FC-4880-9BB4-0663DC26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低质量恢复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E609B-4B7A-4351-8787-CD894B06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保留原图候选；置信度选优仍是启发式</a:t>
            </a:r>
          </a:p>
        </p:txBody>
      </p:sp>
    </p:spTree>
    <p:extLst>
      <p:ext uri="{BB962C8B-B14F-4D97-AF65-F5344CB8AC3E}">
        <p14:creationId xmlns:p14="http://schemas.microsoft.com/office/powerpoint/2010/main" val="13522248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EFE32-D459-4CD7-BD99-CFF695A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开发验收与真实模型状态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723900" y="1524000"/>
          <a:ext xmlns:a="http://schemas.openxmlformats.org/drawingml/2006/main" cx="107442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190750"/>
                <a:gridCol w="53149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问数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规则，合成开发题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文档问答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混合检索 + 摘录引用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融合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5/5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明确工具计划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公开Chinook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人工开发题，非标准基准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gpt-6-luna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 401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未获得真实模型成绩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05863-C351-488F-AD8B-07610A8E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rPr>
              <a:t>开发通过率不能换算官方分数；回退不算真实模型通过</a:t>
            </a:r>
          </a:p>
        </p:txBody>
      </p:sp>
    </p:spTree>
    <p:extLst>
      <p:ext uri="{BB962C8B-B14F-4D97-AF65-F5344CB8AC3E}">
        <p14:creationId xmlns:p14="http://schemas.microsoft.com/office/powerpoint/2010/main" val="16057622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B7094-4199-44F5-ACD1-5E00131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OCR成对扰动对照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mlns:a="http://schemas.openxmlformats.org/drawingml/2006/main" x="1047750" y="1666875"/>
          <a:ext xmlns:a="http://schemas.openxmlformats.org/drawingml/2006/main" cx="10001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32547e3b6e44b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ACAE7-A590-4F1F-9CA6-BAAE4B9A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0744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rPr>
              <a:t>同一组10种合成扰动；只证明本组关键事实恢复，不能外推</a:t>
            </a:r>
          </a:p>
        </p:txBody>
      </p:sp>
    </p:spTree>
    <p:extLst>
      <p:ext uri="{BB962C8B-B14F-4D97-AF65-F5344CB8AC3E}">
        <p14:creationId xmlns:p14="http://schemas.microsoft.com/office/powerpoint/2010/main" val="7349745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5C28B-01B6-4DF5-9421-97CA0D0F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文档规模与全局语义延迟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23900" y="1638300"/>
          <a:ext xmlns:a="http://schemas.openxmlformats.org/drawingml/2006/main" cx="107442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286000"/>
                <a:gridCol w="3086100"/>
                <a:gridCol w="3086100"/>
              </a:tblGrid>
              <a:tr h="65484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页数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切片数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热P50 / ms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热P95 / ms</a:t>
                      </a:r>
                    </a:p>
                  </a:txBody>
                  <a:tcPr marL="91440" marR="91440" marT="45720" marB="45720">
                    <a:solidFill>
                      <a:srgbClr val="162B3C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19.093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19.575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109.542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115.637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2500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541.472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B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616.101</a:t>
                      </a:r>
                    </a:p>
                  </a:txBody>
                  <a:tcPr marL="91440" marR="91440" marT="45720" marB="45720"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1AA01-90F6-414B-8684-A1FB59E8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500页首次全局回答约16.1秒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F434B-DB33-49BB-B1C9-CCCEB386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rPr>
              <a:t>冷编码、热缓存、编号查询与全局语义分别报告</a:t>
            </a:r>
          </a:p>
        </p:txBody>
      </p:sp>
    </p:spTree>
    <p:extLst>
      <p:ext uri="{BB962C8B-B14F-4D97-AF65-F5344CB8AC3E}">
        <p14:creationId xmlns:p14="http://schemas.microsoft.com/office/powerpoint/2010/main" val="15368528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B87A9-987F-48A8-97E8-C0E22483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五轮会话与失败恢复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7A67D-2D01-4C8E-8C0B-97A6E7B0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74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2025华东 → 华南 → 2024 → 订单数 → 华北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2E6B2-F73C-403D-9CB2-15E3EE6E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10744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29584 → 22992 → 4998 → 1 →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A3EF5-C4F3-43CA-8EAB-8B2F00A9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7442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SQLite保存结构化槽位；重启恢复，主题变化清空旧条件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7FFFA-7FD7-4C0A-8C41-B5BF922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6371"/>
                </a:solidFill>
                <a:latin typeface="Microsoft YaHei"/>
                <a:ea typeface="Microsoft YaHei"/>
                <a:cs typeface="Microsoft YaHei"/>
              </a:rPr>
              <a:t>错年份、缺参数、零分母或冲突币种：保留trace并停止结论</a:t>
            </a:r>
          </a:p>
        </p:txBody>
      </p:sp>
    </p:spTree>
    <p:extLst>
      <p:ext uri="{BB962C8B-B14F-4D97-AF65-F5344CB8AC3E}">
        <p14:creationId xmlns:p14="http://schemas.microsoft.com/office/powerpoint/2010/main" val="11169621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9FBD2-07DF-44D5-B69F-97C6066E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实用创新与转化价值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D04C6-EAC9-4B72-A239-BDB4C3D6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可计算证据契约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7422E-39B5-4EF3-97F9-07AF785E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公式、参数、时间与量纲共同决定能否计算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05695-6B61-4467-91BD-FFA20804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可核验的执行链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D29D9-56F2-40F8-BC90-024C3F5B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依赖来自实际工具引用；失败原因与原文可回看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4C693-43D2-491C-9973-44A9ADBE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独立可复现交付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4F58C-22C4-475A-AAE4-436DB24C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公开权重、Schema、样本、许可与精确依赖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EC3F0-2D0B-4321-83BC-F9ADE6A2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价值证据边界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F7F89-D0AC-4ED6-9FD8-B5732E74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尚无真实用户收益；不虚构节省工时或商业回报</a:t>
            </a:r>
          </a:p>
        </p:txBody>
      </p:sp>
    </p:spTree>
    <p:extLst>
      <p:ext uri="{BB962C8B-B14F-4D97-AF65-F5344CB8AC3E}">
        <p14:creationId xmlns:p14="http://schemas.microsoft.com/office/powerpoint/2010/main" val="4273902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26FA7-8A42-4CE2-B53C-D279B5D7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后续验收与提交门槛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E08B5-844B-4B51-965A-FDC9EE48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真实模型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C4015-F246-4F92-ABDF-CD86D237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002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有效gpt-6-luna鉴权、通用多跳与跨源五轮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1E214-8139-4A42-A70B-E73E60D3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独立效果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F6CD0-F164-4D60-BE2A-E7179EA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冻结保留题；未知Schema与真实低质量文档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27D42-A682-4DC9-9ED3-9EC96943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端到端效率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BC387-7810-4A8B-906F-B4737DA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814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记录模型token成本、冷/热和故障恢复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8259F-9C02-422D-BBCD-9A85B154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87"/>
                </a:solidFill>
                <a:latin typeface="Microsoft YaHei"/>
                <a:ea typeface="Microsoft YaHei"/>
                <a:cs typeface="Microsoft YaHei"/>
              </a:rPr>
              <a:t>正式交付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A9544-8574-4126-87A3-B09D2BF9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C"/>
                </a:solidFill>
                <a:latin typeface="Microsoft YaHei"/>
                <a:ea typeface="Microsoft YaHei"/>
                <a:cs typeface="Microsoft YaHei"/>
              </a:rPr>
              <a:t>官方模板迁移、匿名校验、完整资产新目录验包</a:t>
            </a:r>
          </a:p>
        </p:txBody>
      </p:sp>
    </p:spTree>
    <p:extLst>
      <p:ext uri="{BB962C8B-B14F-4D97-AF65-F5344CB8AC3E}">
        <p14:creationId xmlns:p14="http://schemas.microsoft.com/office/powerpoint/2010/main" val="8699573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2026-10-01T00:57:28.8410000Z</dcterms:created>
  <dcterms:modified xsi:type="dcterms:W3CDTF">2026-10-01T00:57:28.8410000Z</dcterms:modified>
</coreProperties>
</file>