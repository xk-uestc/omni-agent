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1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551d9a6bd6143a1" /><Relationship Type="http://schemas.openxmlformats.org/officeDocument/2006/relationships/extended-properties" Target="/docProps/app.xml" Id="R9c10393cfe794f0f" /><Relationship Type="http://schemas.openxmlformats.org/officeDocument/2006/relationships/officeDocument" Target="/ppt/presentation.xml" Id="Rdebb0f49f4f848d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3e4cfbd2eeb495d"/>
  </p:sldMasterIdLst>
  <p:notesMasterIdLst>
    <p:notesMasterId xmlns:r="http://schemas.openxmlformats.org/officeDocument/2006/relationships" r:id="R8381a4412e3548d4"/>
  </p:notesMasterIdLst>
  <p:sldIdLst>
    <p:sldId xmlns:r="http://schemas.openxmlformats.org/officeDocument/2006/relationships" id="256" r:id="R73e98b2e37414b93"/>
    <p:sldId xmlns:r="http://schemas.openxmlformats.org/officeDocument/2006/relationships" id="257" r:id="R8e062f51b48c4326"/>
    <p:sldId xmlns:r="http://schemas.openxmlformats.org/officeDocument/2006/relationships" id="258" r:id="R964a5fe2ba484359"/>
    <p:sldId xmlns:r="http://schemas.openxmlformats.org/officeDocument/2006/relationships" id="259" r:id="Rd1a1ed1bae5642b0"/>
    <p:sldId xmlns:r="http://schemas.openxmlformats.org/officeDocument/2006/relationships" id="260" r:id="R561e6b9986024375"/>
    <p:sldId xmlns:r="http://schemas.openxmlformats.org/officeDocument/2006/relationships" id="261" r:id="R6e996001829e4a36"/>
    <p:sldId xmlns:r="http://schemas.openxmlformats.org/officeDocument/2006/relationships" id="262" r:id="R07660059119b4419"/>
    <p:sldId xmlns:r="http://schemas.openxmlformats.org/officeDocument/2006/relationships" id="263" r:id="Rc18846d14dfe4560"/>
    <p:sldId xmlns:r="http://schemas.openxmlformats.org/officeDocument/2006/relationships" id="264" r:id="Rf714aef349c34fc8"/>
    <p:sldId xmlns:r="http://schemas.openxmlformats.org/officeDocument/2006/relationships" id="265" r:id="R2993407665794f3f"/>
    <p:sldId xmlns:r="http://schemas.openxmlformats.org/officeDocument/2006/relationships" id="266" r:id="R0f22b0cfa2f84254"/>
    <p:sldId xmlns:r="http://schemas.openxmlformats.org/officeDocument/2006/relationships" id="267" r:id="R4167a830e3d648e8"/>
    <p:sldId xmlns:r="http://schemas.openxmlformats.org/officeDocument/2006/relationships" id="268" r:id="Rd8694f3ae236495c"/>
    <p:sldId xmlns:r="http://schemas.openxmlformats.org/officeDocument/2006/relationships" id="269" r:id="R319d7c690ab44b93"/>
    <p:sldId xmlns:r="http://schemas.openxmlformats.org/officeDocument/2006/relationships" id="270" r:id="R233ae3101b8240f9"/>
    <p:sldId xmlns:r="http://schemas.openxmlformats.org/officeDocument/2006/relationships" id="271" r:id="R7a336842c5ba441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13f53a2236f4fb2" /><Relationship Type="http://schemas.openxmlformats.org/officeDocument/2006/relationships/slideMaster" Target="/ppt/slideMasters/slideMaster1.xml" Id="Rb3e4cfbd2eeb495d" /><Relationship Type="http://schemas.openxmlformats.org/officeDocument/2006/relationships/notesMaster" Target="/ppt/notesMasters/notesMaster1.xml" Id="R8381a4412e3548d4" /><Relationship Type="http://schemas.openxmlformats.org/officeDocument/2006/relationships/presProps" Target="/ppt/presProps.xml" Id="R568d56484bbe45bb" /><Relationship Type="http://schemas.openxmlformats.org/officeDocument/2006/relationships/tableStyles" Target="/ppt/tableStyles.xml" Id="R55ece96326274c83" /><Relationship Type="http://schemas.openxmlformats.org/officeDocument/2006/relationships/slide" Target="/ppt/slides/slide1.xml" Id="R73e98b2e37414b93" /><Relationship Type="http://schemas.openxmlformats.org/officeDocument/2006/relationships/slide" Target="/ppt/slides/slide2.xml" Id="R8e062f51b48c4326" /><Relationship Type="http://schemas.openxmlformats.org/officeDocument/2006/relationships/slide" Target="/ppt/slides/slide3.xml" Id="R964a5fe2ba484359" /><Relationship Type="http://schemas.openxmlformats.org/officeDocument/2006/relationships/slide" Target="/ppt/slides/slide4.xml" Id="Rd1a1ed1bae5642b0" /><Relationship Type="http://schemas.openxmlformats.org/officeDocument/2006/relationships/slide" Target="/ppt/slides/slide5.xml" Id="R561e6b9986024375" /><Relationship Type="http://schemas.openxmlformats.org/officeDocument/2006/relationships/slide" Target="/ppt/slides/slide6.xml" Id="R6e996001829e4a36" /><Relationship Type="http://schemas.openxmlformats.org/officeDocument/2006/relationships/slide" Target="/ppt/slides/slide7.xml" Id="R07660059119b4419" /><Relationship Type="http://schemas.openxmlformats.org/officeDocument/2006/relationships/slide" Target="/ppt/slides/slide8.xml" Id="Rc18846d14dfe4560" /><Relationship Type="http://schemas.openxmlformats.org/officeDocument/2006/relationships/slide" Target="/ppt/slides/slide9.xml" Id="Rf714aef349c34fc8" /><Relationship Type="http://schemas.openxmlformats.org/officeDocument/2006/relationships/slide" Target="/ppt/slides/slide10.xml" Id="R2993407665794f3f" /><Relationship Type="http://schemas.openxmlformats.org/officeDocument/2006/relationships/slide" Target="/ppt/slides/slide11.xml" Id="R0f22b0cfa2f84254" /><Relationship Type="http://schemas.openxmlformats.org/officeDocument/2006/relationships/slide" Target="/ppt/slides/slide12.xml" Id="R4167a830e3d648e8" /><Relationship Type="http://schemas.openxmlformats.org/officeDocument/2006/relationships/slide" Target="/ppt/slides/slide13.xml" Id="Rd8694f3ae236495c" /><Relationship Type="http://schemas.openxmlformats.org/officeDocument/2006/relationships/slide" Target="/ppt/slides/slide14.xml" Id="R319d7c690ab44b93" /><Relationship Type="http://schemas.openxmlformats.org/officeDocument/2006/relationships/slide" Target="/ppt/slides/slide15.xml" Id="R233ae3101b8240f9" /><Relationship Type="http://schemas.openxmlformats.org/officeDocument/2006/relationships/slide" Target="/ppt/slides/slide16.xml" Id="R7a336842c5ba441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afe504d63fb4dd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af921e024974b05" /><Relationship Type="http://schemas.openxmlformats.org/officeDocument/2006/relationships/notesMaster" Target="/ppt/notesMasters/notesMaster1.xml" Id="Rd004fb7b5eb7476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dff4bac749c4755" /><Relationship Type="http://schemas.openxmlformats.org/officeDocument/2006/relationships/notesMaster" Target="/ppt/notesMasters/notesMaster1.xml" Id="Rae5a178532ae4f5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f8ef267616d471f" /><Relationship Type="http://schemas.openxmlformats.org/officeDocument/2006/relationships/notesMaster" Target="/ppt/notesMasters/notesMaster1.xml" Id="R8d9ed81466a3447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28ea76911974c82" /><Relationship Type="http://schemas.openxmlformats.org/officeDocument/2006/relationships/notesMaster" Target="/ppt/notesMasters/notesMaster1.xml" Id="R616fe66083ca464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a821172b5484c96" /><Relationship Type="http://schemas.openxmlformats.org/officeDocument/2006/relationships/notesMaster" Target="/ppt/notesMasters/notesMaster1.xml" Id="Rc934d32c44b84cd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b1abfe6281b4ee6" /><Relationship Type="http://schemas.openxmlformats.org/officeDocument/2006/relationships/notesMaster" Target="/ppt/notesMasters/notesMaster1.xml" Id="Rc02a17b1bec3450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d05ad4c9f14403a" /><Relationship Type="http://schemas.openxmlformats.org/officeDocument/2006/relationships/notesMaster" Target="/ppt/notesMasters/notesMaster1.xml" Id="R1fdafa2e99fc486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e81bca9368f4194" /><Relationship Type="http://schemas.openxmlformats.org/officeDocument/2006/relationships/notesMaster" Target="/ppt/notesMasters/notesMaster1.xml" Id="Rb2cc5dd587ac47f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f067a6c2c384657" /><Relationship Type="http://schemas.openxmlformats.org/officeDocument/2006/relationships/notesMaster" Target="/ppt/notesMasters/notesMaster1.xml" Id="Rcda3d97a533c425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83f4f03c5994425" /><Relationship Type="http://schemas.openxmlformats.org/officeDocument/2006/relationships/notesMaster" Target="/ppt/notesMasters/notesMaster1.xml" Id="R6c60e335b3f4471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89bb46b80e84dbc" /><Relationship Type="http://schemas.openxmlformats.org/officeDocument/2006/relationships/notesMaster" Target="/ppt/notesMasters/notesMaster1.xml" Id="R5ba16d1bd59f477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66a50a0aed04457" /><Relationship Type="http://schemas.openxmlformats.org/officeDocument/2006/relationships/notesMaster" Target="/ppt/notesMasters/notesMaster1.xml" Id="R67734e431c2c47b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e3e057256e34e0d" /><Relationship Type="http://schemas.openxmlformats.org/officeDocument/2006/relationships/notesMaster" Target="/ppt/notesMasters/notesMaster1.xml" Id="R695f488af18a414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f5a3a6dd3b342a5" /><Relationship Type="http://schemas.openxmlformats.org/officeDocument/2006/relationships/notesMaster" Target="/ppt/notesMasters/notesMaster1.xml" Id="R3a16d30ae8e149a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bbcf361b2d047ed" /><Relationship Type="http://schemas.openxmlformats.org/officeDocument/2006/relationships/notesMaster" Target="/ppt/notesMasters/notesMaster1.xml" Id="R08d55affdc16400d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beee8627ac446a0" /><Relationship Type="http://schemas.openxmlformats.org/officeDocument/2006/relationships/notesMaster" Target="/ppt/notesMasters/notesMaster1.xml" Id="R4fae2b3a80194d5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依据：specification/official-track8.pdf；匿名自定义版式，组委会模板未提供。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依据：官方赛题基础/中级/决赛任务；docs/ACCEPTANCE.md。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依据：docs/CURRENT_ARCHITECTURE.md；backend/omni_agent.py、dependency_agent.py。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依据：backend/nl2sql/；docs/CHINOOK_RULES_REPORT.json、SCHEMA_SCALE_REPORT.json。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依据：samples/manifest.json、backend/knowledge_store.py、ocr.py。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依据：backend/dense_retrieval.py、cross_source.py；docs/RAG_SCALE_REPORT.json。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依据：docs/HYBRID_ACCEPTANCE_REPORT.json；formula_binding.py、unit_algebra.py。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依据：HYBRID_ACCEPTANCE_REPORT.json；dependency_agent.py。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依据：官方九项中级任务；docs/ACCEPTANCE.md M01-M05。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依据：docs/ACCEPTANCE.md M06-M09；ROBUSTNESS_REPORT.json。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依据：HYBRID_ACCEPTANCE_REPORT.json、CHINOOK_RULES_REPORT.json、MODEL_API_PROBE.json。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依据：docs/ROBUSTNESS_REPORT.json；十种合成扰动，不是OHR-Bench。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依据：docs/RAG_SCALE_REPORT.json；文字PDF在线混合摘录，不含OCR与外部生成。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依据：FAULT_RECOVERY_FIRST_RUN.json、FAULT_RECOVERY_REPORT.json、LOCAL_REGRESSION_REPORT.json。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依据：公式/单位/日期守卫与公开资产验包；不申报已证实的SOTA领先。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依据：docs/ACCEPTANCE.md；官方决赛交付要求。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6ff72cabb164e6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59171402572419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0b47100d049498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785c43422a47b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5fb0b2ecbdd496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badcb23534d4c7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E0F6B7C-2419-4826-835B-FEBA10F6B0C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56A1051E-BF43-4CCA-A743-999C5E62055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5EF7ECAB-E85B-47A4-8E3D-FA755BF3B8A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22865D6-8C0A-45B7-858A-45C52391451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C68061A5-F1A1-483F-8B79-30387F247CB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037BEDA6-EC61-4B72-A776-E880BAB852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06C0EDC-61F5-497E-90D3-4311EE71D08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10AE1147-142E-4A46-B86C-14350FE4C5E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8545B46-E007-4966-BC90-556A4280287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33F1279-0E6D-4B05-8E4B-FB0DE7E3492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36d8d960b9a4ced" /><Relationship Type="http://schemas.openxmlformats.org/officeDocument/2006/relationships/slideLayout" Target="/ppt/slideLayouts/slideLayout1.xml" Id="Rf02375ae7a07427b" /><Relationship Type="http://schemas.openxmlformats.org/officeDocument/2006/relationships/slideLayout" Target="/ppt/slideLayouts/slideLayout2.xml" Id="Rae0781bd4fbb43c3" /><Relationship Type="http://schemas.openxmlformats.org/officeDocument/2006/relationships/slideLayout" Target="/ppt/slideLayouts/slideLayout3.xml" Id="Rc3416471717d449d" /><Relationship Type="http://schemas.openxmlformats.org/officeDocument/2006/relationships/slideLayout" Target="/ppt/slideLayouts/slideLayout4.xml" Id="R5f645ec8d130476b" /><Relationship Type="http://schemas.openxmlformats.org/officeDocument/2006/relationships/slideLayout" Target="/ppt/slideLayouts/slideLayout5.xml" Id="R31929f195d73447a" /><Relationship Type="http://schemas.openxmlformats.org/officeDocument/2006/relationships/slideLayout" Target="/ppt/slideLayouts/slideLayout6.xml" Id="R8999fcee88e243f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02375ae7a07427b"/>
    <p:sldLayoutId xmlns:r="http://schemas.openxmlformats.org/officeDocument/2006/relationships" id="2147483650" r:id="Rae0781bd4fbb43c3"/>
    <p:sldLayoutId xmlns:r="http://schemas.openxmlformats.org/officeDocument/2006/relationships" id="2147483651" r:id="Rc3416471717d449d"/>
    <p:sldLayoutId xmlns:r="http://schemas.openxmlformats.org/officeDocument/2006/relationships" id="2147483652" r:id="R5f645ec8d130476b"/>
    <p:sldLayoutId xmlns:r="http://schemas.openxmlformats.org/officeDocument/2006/relationships" id="2147483653" r:id="R31929f195d73447a"/>
    <p:sldLayoutId xmlns:r="http://schemas.openxmlformats.org/officeDocument/2006/relationships" id="2147483654" r:id="R8999fcee88e243f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4624c020b844048" /><Relationship Type="http://schemas.openxmlformats.org/officeDocument/2006/relationships/notesSlide" Target="/ppt/notesSlides/notesSlide1.xml" Id="R3114ff893763479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e5d2bc1c5984355" /><Relationship Type="http://schemas.openxmlformats.org/officeDocument/2006/relationships/notesSlide" Target="/ppt/notesSlides/notesSlide2.xml" Id="Rdf077ddfe7bd4e6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56ea62c42d84ba3" /><Relationship Type="http://schemas.openxmlformats.org/officeDocument/2006/relationships/notesSlide" Target="/ppt/notesSlides/notesSlide3.xml" Id="R8900864f19ad432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46b0e51644244b9" /><Relationship Type="http://schemas.openxmlformats.org/officeDocument/2006/relationships/notesSlide" Target="/ppt/notesSlides/notesSlide4.xml" Id="Rb401e5b6258f4be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e6aa1b18f5846bd" /><Relationship Type="http://schemas.openxmlformats.org/officeDocument/2006/relationships/notesSlide" Target="/ppt/notesSlides/notesSlide5.xml" Id="R0b8c09ff16f04b1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5b3db20cbfe4375" /><Relationship Type="http://schemas.openxmlformats.org/officeDocument/2006/relationships/notesSlide" Target="/ppt/notesSlides/notesSlide6.xml" Id="Ra54005ece3a04ae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5d2a1fb2d6246e2" /><Relationship Type="http://schemas.openxmlformats.org/officeDocument/2006/relationships/notesSlide" Target="/ppt/notesSlides/notesSlide7.xml" Id="R5060fbc068be47e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6b19fe8f1f44e00" /><Relationship Type="http://schemas.openxmlformats.org/officeDocument/2006/relationships/notesSlide" Target="/ppt/notesSlides/notesSlide8.xml" Id="R4df2da3948c9417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1d95a29465d437f" /><Relationship Type="http://schemas.openxmlformats.org/officeDocument/2006/relationships/notesSlide" Target="/ppt/notesSlides/notesSlide9.xml" Id="Rd38628312a144d0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d687f063cc241b2" /><Relationship Type="http://schemas.openxmlformats.org/officeDocument/2006/relationships/notesSlide" Target="/ppt/notesSlides/notesSlide10.xml" Id="Re9265ba3c89f4da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69b71ae65ed4e02" /><Relationship Type="http://schemas.openxmlformats.org/officeDocument/2006/relationships/notesSlide" Target="/ppt/notesSlides/notesSlide11.xml" Id="R9a25a557b76d426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57118cd0c7c40f4" /><Relationship Type="http://schemas.openxmlformats.org/officeDocument/2006/relationships/chart" Target="/ppt/slides/charts/chart1.xml" Id="Rd1234f2219454977" /><Relationship Type="http://schemas.openxmlformats.org/officeDocument/2006/relationships/notesSlide" Target="/ppt/notesSlides/notesSlide12.xml" Id="Rbeec955f7b7c455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d6b05aa02d2459a" /><Relationship Type="http://schemas.openxmlformats.org/officeDocument/2006/relationships/notesSlide" Target="/ppt/notesSlides/notesSlide13.xml" Id="R82ba837b7cc54b8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60be73e84bd48d1" /><Relationship Type="http://schemas.openxmlformats.org/officeDocument/2006/relationships/notesSlide" Target="/ppt/notesSlides/notesSlide14.xml" Id="R3cb5811d6e5b439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21d8e7779e948a7" /><Relationship Type="http://schemas.openxmlformats.org/officeDocument/2006/relationships/notesSlide" Target="/ppt/notesSlides/notesSlide15.xml" Id="R31202844134f444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931594641594ffa" /><Relationship Type="http://schemas.openxmlformats.org/officeDocument/2006/relationships/notesSlide" Target="/ppt/notesSlides/notesSlide16.xml" Id="R26aa5bf9f96c43e0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关键事实正确样本数</c:v>
          </c:tx>
          <c:spPr>
            <a:solidFill xmlns:a="http://schemas.openxmlformats.org/drawingml/2006/main">
              <a:srgbClr val="176B87"/>
            </a:solidFill>
          </c:spPr>
          <c:cat>
            <c:strRef>
              <c:f>'Chart Data'!$A$2:$A$3</c:f>
              <c:strCache>
                <c:ptCount val="2"/>
                <c:pt idx="0">
                  <c:v>原图识别</c:v>
                </c:pt>
                <c:pt idx="1">
                  <c:v>有界恢复</c:v>
                </c:pt>
              </c:strCache>
            </c:strRef>
          </c:cat>
          <c:val>
            <c:numRef>
              <c:f>'Chart Data'!$B$2:$B$3</c:f>
              <c:numCache>
                <c:formatCode>0</c:formatCode>
                <c:ptCount val="2"/>
                <c:pt idx="0">
                  <c:v>8</c:v>
                </c:pt>
                <c:pt idx="1">
                  <c:v>10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025">
                  <a:latin typeface="Microsoft YaHei"/>
                  <a:ea typeface="Microsoft YaHei"/>
                  <a:cs typeface="Microsoft YaHe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pPr>
          </a:p>
        </c:txPr>
        <c:crossAx val="48672768"/>
      </c:catAx>
      <c:valAx>
        <c:axId val="48672768"/>
        <c:scaling>
          <c:orientation val="minMax"/>
          <c:max val="12"/>
          <c:min val="0"/>
        </c:scaling>
        <c:delete val="0"/>
        <c:axPos val="l"/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pPr>
          </a:p>
        </c:txPr>
        <c:crossAx val="48650112"/>
        <c:crossBetween val="between"/>
        <c:majorUnit val="2"/>
      </c:valAx>
    </c:plotArea>
    <c:plotVisOnly val="1"/>
  </c:chart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62B3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73D581-C1F5-415E-81A3-471B3A84D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09700"/>
            <a:ext cx="107442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OmniAgent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F3EB0D-7BA8-4E57-B52C-02EBF6C68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1074420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多模态数据驱动的</a:t>
            </a:r>
          </a:p>
          <a:p xmlns:a="http://schemas.openxmlformats.org/drawingml/2006/main">
            <a:pPr>
              <a:defRPr sz="34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可解释精准问数问答智能体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7322A4-F83E-4363-AA70-A9EC2DA44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29250"/>
            <a:ext cx="10744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CADAE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CADAE4"/>
                </a:solidFill>
                <a:latin typeface="Microsoft YaHei"/>
                <a:ea typeface="Microsoft YaHei"/>
                <a:cs typeface="Microsoft YaHei"/>
              </a:rPr>
              <a:t>ICT 赛题八 · 2026-10-01</a:t>
            </a:r>
          </a:p>
        </p:txBody>
      </p:sp>
    </p:spTree>
    <p:extLst>
      <p:ext uri="{BB962C8B-B14F-4D97-AF65-F5344CB8AC3E}">
        <p14:creationId xmlns:p14="http://schemas.microsoft.com/office/powerpoint/2010/main" val="156687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093F8B-30A9-4E79-9B3B-BD082B316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"/>
            <a:ext cx="108204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赛题目标与当前实现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FF26CB-00AE-4750-9D14-6448307AB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020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rPr>
              <a:t>数据库问数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0C6B1C-9042-438B-834C-1AF8E3B97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600200"/>
            <a:ext cx="7524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Schema链接、要素识别、澄清、JOIN与只读执行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993E4A-A4DA-4578-85B0-46C22CFB9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9080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rPr>
              <a:t>多模态问答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633AE7-9819-4C5A-91A3-3E230E3C6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590800"/>
            <a:ext cx="7524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六种格式、真实OCR、本地BGE与BM25融合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8642C1-8663-4D78-B88F-4E27ED7EF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8140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rPr>
              <a:t>跨源计算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20A79C-C714-4724-9121-CC1DACD7F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581400"/>
            <a:ext cx="7524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公式与数据绑定，核验单位、年份与政策版本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21E8AF-B40B-4390-9771-AF36D936B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7200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rPr>
              <a:t>可解释交互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FA4EF8-EBE0-409E-8D86-1C70D5B73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572000"/>
            <a:ext cx="7524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实际SQL、引用位置、依赖链与五轮会话</a:t>
            </a:r>
          </a:p>
        </p:txBody>
      </p:sp>
    </p:spTree>
    <p:extLst>
      <p:ext uri="{BB962C8B-B14F-4D97-AF65-F5344CB8AC3E}">
        <p14:creationId xmlns:p14="http://schemas.microsoft.com/office/powerpoint/2010/main" val="154765970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3" name=""/>
          <p:cNvCxnSpPr>
            <a:stCxn xmlns:a="http://schemas.openxmlformats.org/drawingml/2006/main" id="5" idx="2"/>
            <a:endCxn xmlns:a="http://schemas.openxmlformats.org/drawingml/2006/main" id="6" idx="0"/>
          </p:cNvCxnSpPr>
          <p:nvPr/>
        </p:nvCxnSpPr>
        <p:spPr>
          <a:xfrm xmlns:a="http://schemas.openxmlformats.org/drawingml/2006/main" flipH="1">
            <a:off x="6096000" y="4419600"/>
            <a:ext cx="3848100" cy="7620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176B87"/>
            </a:solidFill>
            <a:tailEnd type="arrow" w="med" len="med"/>
          </a:ln>
        </p:spPr>
      </p:cxnSp>
      <p:cxnSp>
        <p:nvCxnSpPr>
          <p:cNvPr id="14" name=""/>
          <p:cNvCxnSpPr>
            <a:stCxn xmlns:a="http://schemas.openxmlformats.org/drawingml/2006/main" id="2" idx="2"/>
            <a:endCxn xmlns:a="http://schemas.openxmlformats.org/drawingml/2006/main" id="5" idx="0"/>
          </p:cNvCxnSpPr>
          <p:nvPr/>
        </p:nvCxnSpPr>
        <p:spPr>
          <a:xfrm xmlns:a="http://schemas.openxmlformats.org/drawingml/2006/main">
            <a:off x="6096000" y="2190750"/>
            <a:ext cx="3848100" cy="7143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176B87"/>
            </a:solidFill>
            <a:tailEnd type="arrow" w="med" len="med"/>
          </a:ln>
        </p:spPr>
      </p:cxnSp>
      <p:cxnSp>
        <p:nvCxnSpPr>
          <p:cNvPr id="15" name=""/>
          <p:cNvCxnSpPr>
            <a:stCxn xmlns:a="http://schemas.openxmlformats.org/drawingml/2006/main" id="4" idx="2"/>
            <a:endCxn xmlns:a="http://schemas.openxmlformats.org/drawingml/2006/main" id="6" idx="0"/>
          </p:cNvCxnSpPr>
          <p:nvPr/>
        </p:nvCxnSpPr>
        <p:spPr>
          <a:xfrm xmlns:a="http://schemas.openxmlformats.org/drawingml/2006/main">
            <a:off x="6096000" y="4419600"/>
            <a:ext cx="0" cy="7620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76B87"/>
            </a:solidFill>
            <a:tailEnd type="arrow" w="med" len="med"/>
          </a:ln>
        </p:spPr>
      </p:cxnSp>
      <p:cxnSp>
        <p:nvCxnSpPr>
          <p:cNvPr id="16" name=""/>
          <p:cNvCxnSpPr>
            <a:stCxn xmlns:a="http://schemas.openxmlformats.org/drawingml/2006/main" id="2" idx="2"/>
            <a:endCxn xmlns:a="http://schemas.openxmlformats.org/drawingml/2006/main" id="4" idx="0"/>
          </p:cNvCxnSpPr>
          <p:nvPr/>
        </p:nvCxnSpPr>
        <p:spPr>
          <a:xfrm xmlns:a="http://schemas.openxmlformats.org/drawingml/2006/main">
            <a:off x="6096000" y="2190750"/>
            <a:ext cx="0" cy="7143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76B87"/>
            </a:solidFill>
            <a:tailEnd type="arrow" w="med" len="med"/>
          </a:ln>
        </p:spPr>
      </p:cxnSp>
      <p:cxnSp>
        <p:nvCxnSpPr>
          <p:cNvPr id="17" name=""/>
          <p:cNvCxnSpPr>
            <a:stCxn xmlns:a="http://schemas.openxmlformats.org/drawingml/2006/main" id="3" idx="2"/>
            <a:endCxn xmlns:a="http://schemas.openxmlformats.org/drawingml/2006/main" id="6" idx="0"/>
          </p:cNvCxnSpPr>
          <p:nvPr/>
        </p:nvCxnSpPr>
        <p:spPr>
          <a:xfrm xmlns:a="http://schemas.openxmlformats.org/drawingml/2006/main">
            <a:off x="2247900" y="4419600"/>
            <a:ext cx="3848100" cy="7620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176B87"/>
            </a:solidFill>
            <a:tailEnd type="arrow" w="med" len="med"/>
          </a:ln>
        </p:spPr>
      </p:cxnSp>
      <p:cxnSp>
        <p:nvCxnSpPr>
          <p:cNvPr id="18" name=""/>
          <p:cNvCxnSpPr>
            <a:stCxn xmlns:a="http://schemas.openxmlformats.org/drawingml/2006/main" id="2" idx="2"/>
            <a:endCxn xmlns:a="http://schemas.openxmlformats.org/drawingml/2006/main" id="3" idx="0"/>
          </p:cNvCxnSpPr>
          <p:nvPr/>
        </p:nvCxnSpPr>
        <p:spPr>
          <a:xfrm xmlns:a="http://schemas.openxmlformats.org/drawingml/2006/main" flipH="1">
            <a:off x="2247900" y="2190750"/>
            <a:ext cx="3848100" cy="7143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176B87"/>
            </a:solidFill>
            <a:tailEnd type="arrow" w="med" len="med"/>
          </a:ln>
        </p:spPr>
      </p:cxn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D437A50-4A01-4FD8-9486-256535CEA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"/>
            <a:ext cx="108204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系统架构与共享证据契约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20C640-55B7-4E48-B82F-AAAA94412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43050"/>
            <a:ext cx="107442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8"/>
          </a:solidFill>
          <a:ln xmlns:a="http://schemas.openxmlformats.org/drawingml/2006/main" w="14288">
            <a:solidFill>
              <a:srgbClr val="176B87"/>
            </a:solidFill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用户问题 → 结构化会话 → 路由与工具计划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68CB8D-B4B9-4F9D-82D1-188C2D48B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05125"/>
            <a:ext cx="3048000" cy="1514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8"/>
          </a:solidFill>
          <a:ln xmlns:a="http://schemas.openxmlformats.org/drawingml/2006/main" w="14288">
            <a:solidFill>
              <a:srgbClr val="176B87"/>
            </a:solidFill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结构化数据</a:t>
            </a:r>
          </a:p>
          <a:p xmlns:a="http://schemas.openxmlformats.org/drawingml/2006/main">
            <a:pPr>
              <a:defRPr sz="2025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Schema / 值索引</a:t>
            </a:r>
          </a:p>
          <a:p xmlns:a="http://schemas.openxmlformats.org/drawingml/2006/main">
            <a:pPr>
              <a:defRPr sz="2025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安全SQL / 只读执行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85673E-3218-4524-9017-75FB4FF47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905125"/>
            <a:ext cx="3048000" cy="1514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8"/>
          </a:solidFill>
          <a:ln xmlns:a="http://schemas.openxmlformats.org/drawingml/2006/main" w="14288">
            <a:solidFill>
              <a:srgbClr val="176B87"/>
            </a:solidFill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非结构化数据</a:t>
            </a:r>
          </a:p>
          <a:p xmlns:a="http://schemas.openxmlformats.org/drawingml/2006/main">
            <a:pPr>
              <a:defRPr sz="2025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解析 / OCR</a:t>
            </a:r>
          </a:p>
          <a:p xmlns:a="http://schemas.openxmlformats.org/drawingml/2006/main">
            <a:pPr>
              <a:defRPr sz="2025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BGE + BM25 + RRF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71AF27-8D86-42C6-9920-D98A4692C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905125"/>
            <a:ext cx="3048000" cy="1514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8"/>
          </a:solidFill>
          <a:ln xmlns:a="http://schemas.openxmlformats.org/drawingml/2006/main" w="14288">
            <a:solidFill>
              <a:srgbClr val="176B87"/>
            </a:solidFill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融合执行</a:t>
            </a:r>
          </a:p>
          <a:p xmlns:a="http://schemas.openxmlformats.org/drawingml/2006/main">
            <a:pPr>
              <a:defRPr sz="2025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有界DAG / 前步引用</a:t>
            </a:r>
          </a:p>
          <a:p xmlns:a="http://schemas.openxmlformats.org/drawingml/2006/main">
            <a:pPr>
              <a:defRPr sz="2025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公式 / 单位 / 年份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AAB113-A70A-4C59-951F-F06455895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81600"/>
            <a:ext cx="107442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8"/>
          </a:solidFill>
          <a:ln xmlns:a="http://schemas.openxmlformats.org/drawingml/2006/main" w="14288">
            <a:solidFill>
              <a:srgbClr val="176B87"/>
            </a:solidFill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来源核验 → 最终答案 / 主动澄清 / 明确失败</a:t>
            </a:r>
          </a:p>
        </p:txBody>
      </p:sp>
    </p:spTree>
    <p:extLst>
      <p:ext uri="{BB962C8B-B14F-4D97-AF65-F5344CB8AC3E}">
        <p14:creationId xmlns:p14="http://schemas.microsoft.com/office/powerpoint/2010/main" val="207421473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95C172-2731-4B66-900F-B1F439538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"/>
            <a:ext cx="108204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NL2SQL：结构化计划与安全执行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461F44-080E-4E2C-B0D1-004A33BAE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020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rPr>
              <a:t>字段与值共同链接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5EA3AD-A3D3-4658-AEB5-29164B3E6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600200"/>
            <a:ext cx="7524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显式字段优先；Unicode归一化与值词边界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A68E33-372D-4AC6-857A-C25944581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9080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rPr>
              <a:t>JOIN粒度核验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345AB0-F0FB-4C0E-89D1-35974786F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590800"/>
            <a:ext cx="7524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复合键、关系路径与防扇出；歧义进入澄清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6F120C-2034-461A-BE74-296C06FF3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8140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rPr>
              <a:t>计划经过统一安全门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713359-61C3-4DA7-AF0A-D03C922D0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581400"/>
            <a:ext cx="7524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模型不能执行裸SQL；参数化与只读AST验证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9E49EC-4FEA-4388-9CFF-BFDF09756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7200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rPr>
              <a:t>开发实测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3A515D-2226-413B-9B4D-C4D24B802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572000"/>
            <a:ext cx="7524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Chinook 12/12；11/40/80表干扰9/9</a:t>
            </a:r>
          </a:p>
        </p:txBody>
      </p:sp>
    </p:spTree>
    <p:extLst>
      <p:ext uri="{BB962C8B-B14F-4D97-AF65-F5344CB8AC3E}">
        <p14:creationId xmlns:p14="http://schemas.microsoft.com/office/powerpoint/2010/main" val="204907615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8AD7BA-CA47-442F-AEB3-23945FD53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"/>
            <a:ext cx="108204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多模态入库与可回看的来源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09AECF-0DC5-4450-B49F-4DF7E5ACB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020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rPr>
              <a:t>15份实际样本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21C4E9-9CD1-469D-BE8C-E7BC00A90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600200"/>
            <a:ext cx="7524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六种格式，自建合成CC0；不使用客户私有资料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471492-DBC3-4A32-8A48-899B2F11E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9080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rPr>
              <a:t>结构定位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1CE93C-EC7A-426A-95B2-DD9DBF925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590800"/>
            <a:ext cx="7524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页、行、单元格、OCR区域；PDF目录首次2/8修复后8/8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5BBD28-D314-435B-B7EA-A7B839934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8140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rPr>
              <a:t>真实OCR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2097ED-B4C6-427E-AE7E-EAC7E243A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581400"/>
            <a:ext cx="7524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RapidOCR ONNX CPU；三次以内恢复尝试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48C8A8-9D9B-48A9-91D3-E0208BD2B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7200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rPr>
              <a:t>原文件核验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C1E800-21CE-4C25-8024-EAD393F0E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572000"/>
            <a:ext cx="7524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检索/公式命中后重查SHA；篡改或缺失停止</a:t>
            </a:r>
          </a:p>
        </p:txBody>
      </p:sp>
    </p:spTree>
    <p:extLst>
      <p:ext uri="{BB962C8B-B14F-4D97-AF65-F5344CB8AC3E}">
        <p14:creationId xmlns:p14="http://schemas.microsoft.com/office/powerpoint/2010/main" val="16861263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265891-B2AD-4231-BCDD-02DD5908A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"/>
            <a:ext cx="108204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混合检索与编号约束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8D7705-B844-44C6-9B37-A3F3C696E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020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rPr>
              <a:t>BGE + BM25 + RRF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40C3A8-1073-41BC-990C-7B3453486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600200"/>
            <a:ext cx="7524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真实本地向量与词匹配融合，保留各路排名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683BF6-EE79-41ED-B19B-E3C09CA58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9080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rPr>
              <a:t>编号限定证据范围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528BD4-3920-45C8-956A-8496E5AC6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590800"/>
            <a:ext cx="7524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CASE0005不能命中CASE00050；缺失编号拒答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940262-4384-44E4-92C5-3A267AD1E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8140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rPr>
              <a:t>引用与数字核验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A84FF9-872A-41EB-8D59-F3E7718FD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581400"/>
            <a:ext cx="7524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原文存在不等于完整语义蕴含，保持明确边界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92386A-BD12-4CD8-B619-5A2050C2F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7200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rPr>
              <a:t>阈值仍需独立校准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CFEDDD-7BCD-4167-A4D1-3B2B87727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572000"/>
            <a:ext cx="7524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开发门槛不作为公开泛化准确率证明</a:t>
            </a:r>
          </a:p>
        </p:txBody>
      </p:sp>
    </p:spTree>
    <p:extLst>
      <p:ext uri="{BB962C8B-B14F-4D97-AF65-F5344CB8AC3E}">
        <p14:creationId xmlns:p14="http://schemas.microsoft.com/office/powerpoint/2010/main" val="206449794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DE7EBB-9626-4156-A941-6F330F01E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"/>
            <a:ext cx="108204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跨源预测的可计算证据</a:t>
            </a:r>
          </a:p>
        </p:txBody>
      </p:sp>
      <p:graphicFrame>
        <p:nvGraphicFramePr>
          <p:cNvPr id="5" name=""/>
          <p:cNvGraphicFramePr/>
          <p:nvPr/>
        </p:nvGraphicFramePr>
        <p:xfrm>
          <a:off xmlns:a="http://schemas.openxmlformats.org/drawingml/2006/main" x="723900" y="1524000"/>
          <a:ext xmlns:a="http://schemas.openxmlformats.org/drawingml/2006/main" cx="10744200" cy="3619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81250"/>
                <a:gridCol w="5000625"/>
                <a:gridCol w="3362325"/>
              </a:tblGrid>
              <a:tr h="7239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来源</a:t>
                      </a:r>
                    </a:p>
                  </a:txBody>
                  <a:tcPr marL="91440" marR="91440" marT="45720" marB="45720">
                    <a:solidFill>
                      <a:srgbClr val="162B3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取值或公式</a:t>
                      </a:r>
                    </a:p>
                  </a:txBody>
                  <a:tcPr marL="91440" marR="91440" marT="45720" marB="45720">
                    <a:solidFill>
                      <a:srgbClr val="162B3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核验条件</a:t>
                      </a:r>
                    </a:p>
                  </a:txBody>
                  <a:tcPr marL="91440" marR="91440" marT="45720" marB="45720">
                    <a:solidFill>
                      <a:srgbClr val="162B3C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文档</a:t>
                      </a:r>
                    </a:p>
                  </a:txBody>
                  <a:tcPr marL="91440" marR="91440" marT="45720" marB="45720"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预测 = 基准 × (1 + 增长率)</a:t>
                      </a:r>
                    </a:p>
                  </a:txBody>
                  <a:tcPr marL="91440" marR="91440" marT="45720" marB="45720"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明确基准年与目标年</a:t>
                      </a:r>
                    </a:p>
                  </a:txBody>
                  <a:tcPr marL="91440" marR="91440" marT="45720" marB="45720">
                    <a:solidFill>
                      <a:srgbClr val="F3F7F9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SQL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2025华东销售额 29584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全年范围与金额单位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Excel</a:t>
                      </a:r>
                    </a:p>
                  </a:txBody>
                  <a:tcPr marL="91440" marR="91440" marT="45720" marB="45720"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2026适用增长率 12%</a:t>
                      </a:r>
                    </a:p>
                  </a:txBody>
                  <a:tcPr marL="91440" marR="91440" marT="45720" marB="45720"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参数适用年份</a:t>
                      </a:r>
                    </a:p>
                  </a:txBody>
                  <a:tcPr marL="91440" marR="91440" marT="45720" marB="45720">
                    <a:solidFill>
                      <a:srgbClr val="F3F7F9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计算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2026预测 33134.08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来源、尺度与AST均有效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9D3C20-E676-4076-8A99-07CE03F22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91175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2637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26371"/>
                </a:solidFill>
                <a:latin typeface="Microsoft YaHei"/>
                <a:ea typeface="Microsoft YaHei"/>
                <a:cs typeface="Microsoft YaHei"/>
              </a:rPr>
              <a:t>合成开发例子；年份或币种冲突时停止输出最终结论</a:t>
            </a:r>
          </a:p>
        </p:txBody>
      </p:sp>
    </p:spTree>
    <p:extLst>
      <p:ext uri="{BB962C8B-B14F-4D97-AF65-F5344CB8AC3E}">
        <p14:creationId xmlns:p14="http://schemas.microsoft.com/office/powerpoint/2010/main" val="107461897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B0A668-532A-4DD0-A114-3CB945BDE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"/>
            <a:ext cx="108204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五类跨源流程与实际依赖</a:t>
            </a:r>
          </a:p>
        </p:txBody>
      </p:sp>
      <p:graphicFrame>
        <p:nvGraphicFramePr>
          <p:cNvPr id="5" name=""/>
          <p:cNvGraphicFramePr/>
          <p:nvPr/>
        </p:nvGraphicFramePr>
        <p:xfrm>
          <a:off xmlns:a="http://schemas.openxmlformats.org/drawingml/2006/main" x="723900" y="1495425"/>
          <a:ext xmlns:a="http://schemas.openxmlformats.org/drawingml/2006/main" cx="10744200" cy="4095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86000"/>
                <a:gridCol w="5600700"/>
                <a:gridCol w="2857500"/>
              </a:tblGrid>
              <a:tr h="6826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场景</a:t>
                      </a:r>
                    </a:p>
                  </a:txBody>
                  <a:tcPr marL="91440" marR="91440" marT="45720" marB="45720">
                    <a:solidFill>
                      <a:srgbClr val="162B3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数据依赖</a:t>
                      </a:r>
                    </a:p>
                  </a:txBody>
                  <a:tcPr marL="91440" marR="91440" marT="45720" marB="45720">
                    <a:solidFill>
                      <a:srgbClr val="162B3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校验</a:t>
                      </a:r>
                    </a:p>
                  </a:txBody>
                  <a:tcPr marL="91440" marR="91440" marT="45720" marB="45720">
                    <a:solidFill>
                      <a:srgbClr val="162B3C"/>
                    </a:solidFill>
                  </a:tcPr>
                </a:tc>
              </a:tr>
              <a:tr h="6826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客单价</a:t>
                      </a:r>
                    </a:p>
                  </a:txBody>
                  <a:tcPr marL="91440" marR="91440" marT="45720" marB="45720"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文档公式 / SQL销售额与订单数</a:t>
                      </a:r>
                    </a:p>
                  </a:txBody>
                  <a:tcPr marL="91440" marR="91440" marT="45720" marB="45720"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来源 / 零分母</a:t>
                      </a:r>
                    </a:p>
                  </a:txBody>
                  <a:tcPr marL="91440" marR="91440" marT="45720" marB="45720">
                    <a:solidFill>
                      <a:srgbClr val="F3F7F9"/>
                    </a:solidFill>
                  </a:tcPr>
                </a:tc>
              </a:tr>
              <a:tr h="6826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预测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PDF公式 / SQL基准 / Excel参数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年份 / 单位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826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地区问数</a:t>
                      </a:r>
                    </a:p>
                  </a:txBody>
                  <a:tcPr marL="91440" marR="91440" marT="45720" marB="45720"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Excel地区作为SQL过滤</a:t>
                      </a:r>
                    </a:p>
                  </a:txBody>
                  <a:tcPr marL="91440" marR="91440" marT="45720" marB="45720"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单元格 / 实体</a:t>
                      </a:r>
                    </a:p>
                  </a:txBody>
                  <a:tcPr marL="91440" marR="91440" marT="45720" marB="45720">
                    <a:solidFill>
                      <a:srgbClr val="F3F7F9"/>
                    </a:solidFill>
                  </a:tcPr>
                </a:tc>
              </a:tr>
              <a:tr h="6826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冠军经验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SQL排名的实体用于文档检索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实体 / 引用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826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阈值比较</a:t>
                      </a:r>
                    </a:p>
                  </a:txBody>
                  <a:tcPr marL="91440" marR="91440" marT="45720" marB="45720"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文档事实与Excel阈值</a:t>
                      </a:r>
                    </a:p>
                  </a:txBody>
                  <a:tcPr marL="91440" marR="91440" marT="45720" marB="45720"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来源 / 数值</a:t>
                      </a:r>
                    </a:p>
                  </a:txBody>
                  <a:tcPr marL="91440" marR="91440" marT="45720" marB="45720">
                    <a:solidFill>
                      <a:srgbClr val="F3F7F9"/>
                    </a:solidFill>
                  </a:tcPr>
                </a:tc>
              </a:tr>
            </a:tbl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E81AC9-D098-42E5-9DB2-313044255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10250"/>
            <a:ext cx="10744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2637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26371"/>
                </a:solidFill>
                <a:latin typeface="Microsoft YaHei"/>
                <a:ea typeface="Microsoft YaHei"/>
                <a:cs typeface="Microsoft YaHei"/>
              </a:rPr>
              <a:t>五流程工具计划已验收；未知自然语言模型规划仍待实测</a:t>
            </a:r>
          </a:p>
        </p:txBody>
      </p:sp>
    </p:spTree>
    <p:extLst>
      <p:ext uri="{BB962C8B-B14F-4D97-AF65-F5344CB8AC3E}">
        <p14:creationId xmlns:p14="http://schemas.microsoft.com/office/powerpoint/2010/main" val="110512510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39CF1C-5EF3-4877-AD0A-64AE06F0D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"/>
            <a:ext cx="108204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中级任务：问数侧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9DA2DF-0B3C-4F05-9B8F-EBC871F82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020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rPr>
              <a:t>要素识别与改写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781A0D-25A7-4E3B-BCF2-26244B93C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600200"/>
            <a:ext cx="7524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NFKC、别名、值词边界；文本扰动5/5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71DFA4-3802-42A8-975D-86E1A381F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9080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rPr>
              <a:t>跨域与低示例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0ACCEF-D34B-49A9-B093-55C978626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590800"/>
            <a:ext cx="7524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Chinook 12/12；差旅新Schema首次6/8修复后8/8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6E2808-A7B6-452F-8FFF-2556EBCB0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8140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rPr>
              <a:t>主动澄清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1CAD05-F288-4B35-913B-E3E0B6FB3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581400"/>
            <a:ext cx="7524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指标/角色、时间与趋势粒度；刷新后继续追问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B1978E-2BFA-43EA-BE9C-53A195A43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7200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rPr>
              <a:t>复杂结构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4B9913-218C-45FD-9712-2408A2944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572000"/>
            <a:ext cx="7524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数十表链接、JOIN、聚合、嵌套与粒度核验</a:t>
            </a:r>
          </a:p>
        </p:txBody>
      </p:sp>
    </p:spTree>
    <p:extLst>
      <p:ext uri="{BB962C8B-B14F-4D97-AF65-F5344CB8AC3E}">
        <p14:creationId xmlns:p14="http://schemas.microsoft.com/office/powerpoint/2010/main" val="185198716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932547-1ECE-4CA9-A902-8771B7B71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"/>
            <a:ext cx="108204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中级任务：文档与计算侧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FF683A-AD93-41F5-B6E7-E794F15E6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020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rPr>
              <a:t>文档公式绑定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F72586-BCC6-421C-A575-37C7BA5E0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600200"/>
            <a:ext cx="7524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AST计算，来源参数、单位尺度与年份守卫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C4C21A-6EAD-4CE8-945E-6711F53D2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9080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rPr>
              <a:t>非标准目录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E54153-9EB5-4DBB-99DA-718DDA617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590800"/>
            <a:ext cx="7524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多种标题层级；行号与层级跳跃告警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123FCF-451A-47A7-A70C-0E5F8EF0A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8140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rPr>
              <a:t>复杂度路由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50DF89-DDA8-4668-834B-936A696BC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581400"/>
            <a:ext cx="7524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实际PageSignal；复杂路径900字 / 80字重叠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585684-5E0C-4EFB-B282-66EF67715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7200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rPr>
              <a:t>低质量恢复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CD8600-BE26-437A-9238-995797DEB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572000"/>
            <a:ext cx="7524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保留原图候选；置信度选优仍是启发式</a:t>
            </a:r>
          </a:p>
        </p:txBody>
      </p:sp>
    </p:spTree>
    <p:extLst>
      <p:ext uri="{BB962C8B-B14F-4D97-AF65-F5344CB8AC3E}">
        <p14:creationId xmlns:p14="http://schemas.microsoft.com/office/powerpoint/2010/main" val="81391212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7F83EC-D6A3-4B18-8C1F-3E8811EA0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"/>
            <a:ext cx="108204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开发验收与真实模型状态</a:t>
            </a:r>
          </a:p>
        </p:txBody>
      </p:sp>
      <p:graphicFrame>
        <p:nvGraphicFramePr>
          <p:cNvPr id="5" name=""/>
          <p:cNvGraphicFramePr/>
          <p:nvPr/>
        </p:nvGraphicFramePr>
        <p:xfrm>
          <a:off xmlns:a="http://schemas.openxmlformats.org/drawingml/2006/main" x="723900" y="1524000"/>
          <a:ext xmlns:a="http://schemas.openxmlformats.org/drawingml/2006/main" cx="10744200" cy="4000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38500"/>
                <a:gridCol w="2190750"/>
                <a:gridCol w="5314950"/>
              </a:tblGrid>
              <a:tr h="6667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评测</a:t>
                      </a:r>
                    </a:p>
                  </a:txBody>
                  <a:tcPr marL="91440" marR="91440" marT="45720" marB="45720">
                    <a:solidFill>
                      <a:srgbClr val="162B3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结果</a:t>
                      </a:r>
                    </a:p>
                  </a:txBody>
                  <a:tcPr marL="91440" marR="91440" marT="45720" marB="45720">
                    <a:solidFill>
                      <a:srgbClr val="162B3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范围</a:t>
                      </a:r>
                    </a:p>
                  </a:txBody>
                  <a:tcPr marL="91440" marR="91440" marT="45720" marB="45720">
                    <a:solidFill>
                      <a:srgbClr val="162B3C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问数</a:t>
                      </a:r>
                    </a:p>
                  </a:txBody>
                  <a:tcPr marL="91440" marR="91440" marT="45720" marB="45720"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12/12</a:t>
                      </a:r>
                    </a:p>
                  </a:txBody>
                  <a:tcPr marL="91440" marR="91440" marT="45720" marB="45720"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规则，合成开发题</a:t>
                      </a:r>
                    </a:p>
                  </a:txBody>
                  <a:tcPr marL="91440" marR="91440" marT="45720" marB="45720">
                    <a:solidFill>
                      <a:srgbClr val="F3F7F9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文档问答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11/11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混合检索 + 摘录引用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融合</a:t>
                      </a:r>
                    </a:p>
                  </a:txBody>
                  <a:tcPr marL="91440" marR="91440" marT="45720" marB="45720"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5/5</a:t>
                      </a:r>
                    </a:p>
                  </a:txBody>
                  <a:tcPr marL="91440" marR="91440" marT="45720" marB="45720"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明确工具计划</a:t>
                      </a:r>
                    </a:p>
                  </a:txBody>
                  <a:tcPr marL="91440" marR="91440" marT="45720" marB="45720">
                    <a:solidFill>
                      <a:srgbClr val="F3F7F9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公开Chinook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12/12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人工开发题，非标准基准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gpt-6-luna</a:t>
                      </a:r>
                    </a:p>
                  </a:txBody>
                  <a:tcPr marL="91440" marR="91440" marT="45720" marB="45720"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HTTP 401</a:t>
                      </a:r>
                    </a:p>
                  </a:txBody>
                  <a:tcPr marL="91440" marR="91440" marT="45720" marB="45720"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未获得真实模型成绩</a:t>
                      </a:r>
                    </a:p>
                  </a:txBody>
                  <a:tcPr marL="91440" marR="91440" marT="45720" marB="45720">
                    <a:solidFill>
                      <a:srgbClr val="F3F7F9"/>
                    </a:solidFill>
                  </a:tcPr>
                </a:tc>
              </a:tr>
            </a:tbl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BB685C-5B72-4A92-BB88-15896C007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29300"/>
            <a:ext cx="10744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2637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26371"/>
                </a:solidFill>
                <a:latin typeface="Microsoft YaHei"/>
                <a:ea typeface="Microsoft YaHei"/>
                <a:cs typeface="Microsoft YaHei"/>
              </a:rPr>
              <a:t>开发通过率不能换算官方分数；回退不算真实模型通过</a:t>
            </a:r>
          </a:p>
        </p:txBody>
      </p:sp>
    </p:spTree>
    <p:extLst>
      <p:ext uri="{BB962C8B-B14F-4D97-AF65-F5344CB8AC3E}">
        <p14:creationId xmlns:p14="http://schemas.microsoft.com/office/powerpoint/2010/main" val="4957074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1A84B1-8D2B-41CA-8806-DEC9AB60C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"/>
            <a:ext cx="108204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OCR成对扰动对照</a:t>
            </a:r>
          </a:p>
        </p:txBody>
      </p:sp>
      <p:graphicFrame>
        <p:nvGraphicFramePr>
          <p:cNvPr id="5" name="Chart"/>
          <p:cNvGraphicFramePr/>
          <p:nvPr/>
        </p:nvGraphicFramePr>
        <p:xfrm>
          <a:off xmlns:a="http://schemas.openxmlformats.org/drawingml/2006/main" x="1047750" y="1666875"/>
          <a:ext xmlns:a="http://schemas.openxmlformats.org/drawingml/2006/main" cx="10001250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1234f2219454977"/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6B806A-7200-4485-B10B-81C29D35D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14975"/>
            <a:ext cx="10744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52637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526371"/>
                </a:solidFill>
                <a:latin typeface="Microsoft YaHei"/>
                <a:ea typeface="Microsoft YaHei"/>
                <a:cs typeface="Microsoft YaHei"/>
              </a:rPr>
              <a:t>同一组10种合成扰动；只证明本组关键事实恢复，不能外推</a:t>
            </a:r>
          </a:p>
        </p:txBody>
      </p:sp>
    </p:spTree>
    <p:extLst>
      <p:ext uri="{BB962C8B-B14F-4D97-AF65-F5344CB8AC3E}">
        <p14:creationId xmlns:p14="http://schemas.microsoft.com/office/powerpoint/2010/main" val="4359280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B44107-A0CA-4BEC-938F-7C4DB9055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"/>
            <a:ext cx="108204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文档规模与全局语义延迟</a:t>
            </a:r>
          </a:p>
        </p:txBody>
      </p:sp>
      <p:graphicFrame>
        <p:nvGraphicFramePr>
          <p:cNvPr id="6" name=""/>
          <p:cNvGraphicFramePr/>
          <p:nvPr/>
        </p:nvGraphicFramePr>
        <p:xfrm>
          <a:off xmlns:a="http://schemas.openxmlformats.org/drawingml/2006/main" x="723900" y="1638300"/>
          <a:ext xmlns:a="http://schemas.openxmlformats.org/drawingml/2006/main" cx="10744200" cy="2619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86000"/>
                <a:gridCol w="2286000"/>
                <a:gridCol w="3086100"/>
                <a:gridCol w="3086100"/>
              </a:tblGrid>
              <a:tr h="654844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页数</a:t>
                      </a:r>
                    </a:p>
                  </a:txBody>
                  <a:tcPr marL="91440" marR="91440" marT="45720" marB="45720">
                    <a:solidFill>
                      <a:srgbClr val="162B3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切片数</a:t>
                      </a:r>
                    </a:p>
                  </a:txBody>
                  <a:tcPr marL="91440" marR="91440" marT="45720" marB="45720">
                    <a:solidFill>
                      <a:srgbClr val="162B3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热P50 / ms</a:t>
                      </a:r>
                    </a:p>
                  </a:txBody>
                  <a:tcPr marL="91440" marR="91440" marT="45720" marB="45720">
                    <a:solidFill>
                      <a:srgbClr val="162B3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热P95 / ms</a:t>
                      </a:r>
                    </a:p>
                  </a:txBody>
                  <a:tcPr marL="91440" marR="91440" marT="45720" marB="45720">
                    <a:solidFill>
                      <a:srgbClr val="162B3C"/>
                    </a:solidFill>
                  </a:tcPr>
                </a:tc>
              </a:tr>
              <a:tr h="654844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</a:t>
                      </a:r>
                    </a:p>
                  </a:txBody>
                  <a:tcPr marL="91440" marR="91440" marT="45720" marB="45720"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50</a:t>
                      </a:r>
                    </a:p>
                  </a:txBody>
                  <a:tcPr marL="91440" marR="91440" marT="45720" marB="45720"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21.154</a:t>
                      </a:r>
                    </a:p>
                  </a:txBody>
                  <a:tcPr marL="91440" marR="91440" marT="45720" marB="45720"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21.897</a:t>
                      </a:r>
                    </a:p>
                  </a:txBody>
                  <a:tcPr marL="91440" marR="91440" marT="45720" marB="45720">
                    <a:solidFill>
                      <a:srgbClr val="F3F7F9"/>
                    </a:solidFill>
                  </a:tcPr>
                </a:tc>
              </a:tr>
              <a:tr h="654844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500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113.635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134.712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54844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500</a:t>
                      </a:r>
                    </a:p>
                  </a:txBody>
                  <a:tcPr marL="91440" marR="91440" marT="45720" marB="45720"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2500</a:t>
                      </a:r>
                    </a:p>
                  </a:txBody>
                  <a:tcPr marL="91440" marR="91440" marT="45720" marB="45720"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523.822</a:t>
                      </a:r>
                    </a:p>
                  </a:txBody>
                  <a:tcPr marL="91440" marR="91440" marT="45720" marB="45720"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618.806</a:t>
                      </a:r>
                    </a:p>
                  </a:txBody>
                  <a:tcPr marL="91440" marR="91440" marT="45720" marB="45720">
                    <a:solidFill>
                      <a:srgbClr val="F3F7F9"/>
                    </a:solidFill>
                  </a:tcPr>
                </a:tc>
              </a:tr>
            </a:tbl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CA9386-C7CE-4F03-9029-8B7CCA03F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95825"/>
            <a:ext cx="10744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rPr>
              <a:t>500页首次全局回答 5.390 秒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9F24B4-7F1F-4476-8C74-3217C874B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0"/>
            <a:ext cx="107442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52637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526371"/>
                </a:solidFill>
                <a:latin typeface="Microsoft YaHei"/>
                <a:ea typeface="Microsoft YaHei"/>
                <a:cs typeface="Microsoft YaHei"/>
              </a:rPr>
              <a:t>首次全局编码与热缓存单列，非新进程完整冷启动</a:t>
            </a:r>
          </a:p>
        </p:txBody>
      </p:sp>
    </p:spTree>
    <p:extLst>
      <p:ext uri="{BB962C8B-B14F-4D97-AF65-F5344CB8AC3E}">
        <p14:creationId xmlns:p14="http://schemas.microsoft.com/office/powerpoint/2010/main" val="87231677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8330FC-4B9B-4C48-944B-3826ED403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"/>
            <a:ext cx="108204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五轮会话与实际故障恢复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CCF2EB-A069-4568-A74E-81368BF6A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020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rPr>
              <a:t>五轮硬重启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56278A-9479-44C5-81AF-93783077E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600200"/>
            <a:ext cx="7524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kill子服务后恢复：29584 / 22992 / 4998 / 1 / 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444F94-4167-444C-BDA1-648409EE1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9080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rPr>
              <a:t>澄清与会话锁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04AD1D-79DD-4860-B4B8-0200DC060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590800"/>
            <a:ext cx="7524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pending选项跨重启；锁定503，解锁保留历史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7403A7-602D-44F1-8EA8-FCB2247D8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8140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rPr>
              <a:t>故障实际审计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599C2D-D782-416D-BA68-83F1CC19B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581400"/>
            <a:ext cx="7524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相同十项首次4/10，修复后10/10；不改主服务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690B43-A0FF-4648-9CC3-52000E41B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7200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rPr>
              <a:t>完整本地回归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236128-51A7-4155-8A0E-F91E26833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572000"/>
            <a:ext cx="7524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468项通过；源文件、缺库、锁定失败均停止后步</a:t>
            </a:r>
          </a:p>
        </p:txBody>
      </p:sp>
    </p:spTree>
    <p:extLst>
      <p:ext uri="{BB962C8B-B14F-4D97-AF65-F5344CB8AC3E}">
        <p14:creationId xmlns:p14="http://schemas.microsoft.com/office/powerpoint/2010/main" val="10024458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E6573E-8F6E-40F4-8B06-C578FBB9A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"/>
            <a:ext cx="108204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实用创新与转化价值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C1CDD2-BAB1-4F61-8FE1-374645A4D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020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rPr>
              <a:t>可计算证据契约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1BE018-1AD1-4BF0-9386-27C639496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600200"/>
            <a:ext cx="7524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公式、参数、时间与量纲共同决定能否计算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912D17-25F3-4F35-8066-197E18BBC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9080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rPr>
              <a:t>可核验的执行链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96649B-B4FC-4344-9003-C686CB45E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590800"/>
            <a:ext cx="7524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依赖来自实际工具引用；失败原因与原文可回看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2EE3CB-9EFD-4FC0-B643-616787243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8140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rPr>
              <a:t>独立可复现交付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DE2135-B082-41C8-A6FA-C7473583E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581400"/>
            <a:ext cx="7524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公开权重、Schema、样本、许可与精确依赖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B2FB1F-5714-4E7A-8CE1-04F04E4DD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7200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rPr>
              <a:t>价值证据边界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876281-7048-4D05-AF2C-B9B2C8AD5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572000"/>
            <a:ext cx="7524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尚无真实用户收益；不虚构节省工时或商业回报</a:t>
            </a:r>
          </a:p>
        </p:txBody>
      </p:sp>
    </p:spTree>
    <p:extLst>
      <p:ext uri="{BB962C8B-B14F-4D97-AF65-F5344CB8AC3E}">
        <p14:creationId xmlns:p14="http://schemas.microsoft.com/office/powerpoint/2010/main" val="123798732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F1653F-24F8-4D96-A27E-6F4F29DBC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"/>
            <a:ext cx="108204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后续验收与提交门槛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2B69E1-9AC4-4595-B449-47D694D64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020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rPr>
              <a:t>真实模型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F78EF6-086E-4C7E-ABE0-244C0C7D1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600200"/>
            <a:ext cx="7524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有效gpt-6-luna鉴权、通用多跳与跨源五轮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A33650-4400-4BC1-BEEE-EDDD31AC0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9080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rPr>
              <a:t>独立效果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5D017E-0B2C-411C-AC86-6277C3989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590800"/>
            <a:ext cx="7524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冻结保留题；未知Schema与真实低质量文档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4A5092-A080-4327-B859-75C6B1EA8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8140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rPr>
              <a:t>端到端效率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31D2CE-4AF4-470D-AF0E-0F9A47AA9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581400"/>
            <a:ext cx="7524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记录模型token成本、冷/热和故障恢复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D38A0E-1B51-43B8-AA55-B12FE14BE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7200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rPr>
              <a:t>正式交付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F5C3C4-E7F3-48DB-AF74-64B58FF13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572000"/>
            <a:ext cx="7524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官方模板迁移、匿名校验、完整资产新目录验包</a:t>
            </a:r>
          </a:p>
        </p:txBody>
      </p:sp>
    </p:spTree>
    <p:extLst>
      <p:ext uri="{BB962C8B-B14F-4D97-AF65-F5344CB8AC3E}">
        <p14:creationId xmlns:p14="http://schemas.microsoft.com/office/powerpoint/2010/main" val="57296601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2026-10-01T02:30:46.5570000Z</dcterms:created>
  <dcterms:modified xsi:type="dcterms:W3CDTF">2026-10-01T02:30:46.5570000Z</dcterms:modified>
</coreProperties>
</file>